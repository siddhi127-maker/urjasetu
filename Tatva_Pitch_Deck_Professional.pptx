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village where the lights cut out right as someone's finishing dinner on an induction stove. Not because there's no power on site — there's solar on the roofs, a battery bank, a diesel genset sitting there as backup. The power just... didn't get to the right place at the right time. That's the problem we picked. We're Team Tatva, and we built a system that decides, every fifteen minutes, exactly how to blend solar, wind, battery, and diesel so that doesn't happen. This is our build for HackOut'26, Renewable Energy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thing nobody tells you about off-grid microgrids: the hardware's basically solved. Panels are cheap, batteries are cheap, gensets are everywhere. What's missing is the decision-making. Right now it's either "diesel runs six to nine, no matter what," or it's whatever the operator on duty feels like doing that day. And that gets you three bad outcomes, over and over — diesel burning when the sun was already covering the load, batteries getting hammered until they die years early, and blackouts that catch everyone off guard because nobody was watching it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 away the jargon and this is just an optimization problem — figure out what's coming, then pick the cheapest, cleanest mix that still keeps the lights on. LP and MILP solve that part fine, the research backs that up. But here's what the papers kept saying that actually surprised us: the algorithm was never the hard part. Trust was. If an operator watches diesel kick in and has no idea why, they don't trust the system — they just switch it to manual and go back to guessing. So for us, explaining why isn't a nice-to-have bolted on at the end. It's load-bearing.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sat down and listed out what's actually broken: dispatch that can't react to weather, zero forecasting, batteries dying early, blackouts nobody predicted, operators who don't trust a black box, and — this one's easy to forget — a dashboard is useless if half your sites don't have decent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turned into five things we're actually building: a forecasting layer for generation and demand, a dispatch engine that re-solves every fifteen to sixty minutes, a battery cost model that accounts for long-term wear — not just today's bill — a blackout predictor that looks ahead instead of reacting, and an explanation attached to every decision the system makes. We're also stretching into shiftable loads, so things like irrigation or cold storage can be nudged into the hours when solar's cheapest.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pretending we can ship real hardware in a weekend, so here's where we drew the line. In scope: a simulated microgrid — optionally fed by a live battery management system — starting as a rule-based MVP and graduating to a full LP or MILP solver, plus SoC tracking, blackout prediction, a dashboard, SMS alerts, and a what-if simulator. Out of scope: buying actual panels, multi-year capacity planning, trading carbon credits, hooking multiple microgrids together. We're building the brain, not the body, and not the bank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 we're actually designing for is a site operator or an NGO field worker who needs a straight answer, fast — and sometimes that answer has to arrive over SMS because their phone doesn't hold a signal for a dashboard. Everyone downstream benefits too: the community gets fewer outages, and funders get real numbers — diesel avoided, emissions avoided — instead of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and the whole thing is one loop. Weather, demand, and battery data flow in. The optimization engine chews on that and decides the split across solar, wind, battery, and diesel, nudges any flexible loads, double-checks that nothing's about to go dark, and pushes the result to a dashboard tracking cost, CO2, and reliability. Then it does it again fifteen minutes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Broken into steps, that loop is: sense what the battery and load are doing right now, forecast the next one to six hours, optimize the dispatch plan, actually dispatch it across the four sources, validate — meaning check for blackout risk and write the explanation — display it, and loop, logging what actually happened against what we predicted so the forecast gets sharper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the engine's trying to minimize diesel cost, plus an emissions penalty, plus a battery wear cost — while never breaking four rules: supply has to meet demand, the battery can't drop below its safety floor, diesel can't be switched on and off every five minutes, and fuel can't go negative. We started rule-based just to get something working end to end fast, then moved up to a proper solver — PuLP or scipy, both fast enough to re-run in well under a second, which matters when you're re-deciding every fifteen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we'd bet the demo on. One — a blackout predictor that runs the simulation forward several cycles, so it catches a shortfall before it happens instead of after. Two — a degradation-aware cost function, so the optimizer never saves you two rupees of diesel today by wrecking a battery that costs a fortune to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generation, we work solar output off irradiance and panel efficiency, and wind off the turbine's power curve — nothing exotic. Demand's the more interesting one: we blend what happened on this same calendar date last year with the trend from the last seven days, weighted together into one forecast. Add up renewables plus usable battery, subtract what we expect demand to be, and that gap — surplus or deficit — is what actually drives the optimizer.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keep an eye on every individual panel and turbine using something called a performance ratio — what it's actually putting out versus what it should be putting out. And we were careful here: one bad reading doesn't trigger an alert. The gap has to show up again and again, and it has to look different from what the neighboring units are doing, before we flag it. Otherwise a cloudy Tuesday looks like a broken panel, and that's not a system anyone keeps trusting for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an operator sees live cost, CO2 avoided, and reliability — plus two features we're genuinely proud of. A what-if simulator, so you can type "three cloudy days in a row" and watch battery and diesel respond before it's actually happened. And a historical replay mode that runs real past weather and load data through the optimizer and hands you a real before-and-after, not a guess. And because a chunk of our actual users won't have a working smartphone on them, the same information goes out as one plain SMS: "Diesel running, battery 15%, switching to solar around 2 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is trying to be clever for its own sake. Python underneath for optimization and forecasting, PuLP or scipy for the solver, Open-Meteo or OpenWeatherMap for weather, Twilio for the SMS layer, React with Recharts or D3 on the front end, FastAPI or Flask with Postgres or SQLite holding it all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actually buy someone? Less diesel, lower emissions, and — because of the replay mode — we can actually prove it instead of asking you to take our word for it. Lower fuel bills, and a battery that lasts as long as it's supposed to, which is usually the single most expensive thing on site. And an operator who keeps the system switched on, because it explains itself instead of just handing down verdicts. None of our individual pieces is a breakthrough on its own — LP dispatch, weather forecasting, an SMS alert, people have built all of these before. What we think is actually ours is putting them together around the three things that quietly kill these projects in the real world: trust, connectivity, and whether the battery's still alive in year two. That's Tatva. Thanks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02D"/>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7302D"/>
          </a:solidFill>
          <a:ln/>
        </p:spPr>
        <p:txBody>
          <a:bodyPr/>
          <a:p/>
        </p:txBody>
      </p:sp>
      <p:sp>
        <p:nvSpPr>
          <p:cNvPr id="3" name="Shape 1"/>
          <p:cNvSpPr/>
          <p:nvPr/>
        </p:nvSpPr>
        <p:spPr>
          <a:xfrm>
            <a:off x="8778240" y="-2011680"/>
            <a:ext cx="5486400" cy="5486400"/>
          </a:xfrm>
          <a:prstGeom prst="ellipse">
            <a:avLst/>
          </a:prstGeom>
          <a:solidFill>
            <a:srgbClr val="0B4F4A">
              <a:alpha val="60000"/>
            </a:srgbClr>
          </a:solidFill>
          <a:ln/>
        </p:spPr>
        <p:txBody>
          <a:bodyPr/>
          <a:p/>
        </p:txBody>
      </p:sp>
      <p:sp>
        <p:nvSpPr>
          <p:cNvPr id="4" name="Shape 2"/>
          <p:cNvSpPr/>
          <p:nvPr/>
        </p:nvSpPr>
        <p:spPr>
          <a:xfrm>
            <a:off x="-2194560" y="4206240"/>
            <a:ext cx="5029200" cy="5029200"/>
          </a:xfrm>
          <a:prstGeom prst="ellipse">
            <a:avLst/>
          </a:prstGeom>
          <a:solidFill>
            <a:srgbClr val="129490">
              <a:alpha val="40000"/>
            </a:srgbClr>
          </a:solidFill>
          <a:ln/>
        </p:spPr>
        <p:txBody>
          <a:bodyPr/>
          <a:p/>
        </p:txBody>
      </p:sp>
      <p:sp>
        <p:nvSpPr>
          <p:cNvPr id="5" name="Shape 3"/>
          <p:cNvSpPr/>
          <p:nvPr/>
        </p:nvSpPr>
        <p:spPr>
          <a:xfrm>
            <a:off x="640080" y="640080"/>
            <a:ext cx="566928" cy="566928"/>
          </a:xfrm>
          <a:prstGeom prst="ellipse">
            <a:avLst/>
          </a:prstGeom>
          <a:solidFill>
            <a:srgbClr val="E8A33D"/>
          </a:solidFill>
          <a:ln/>
        </p:spPr>
        <p:txBody>
          <a:bodyPr/>
          <a:p/>
        </p:txBody>
      </p:sp>
      <p:pic>
        <p:nvPicPr>
          <p:cNvPr id="6" name="Image 0" descr="/home/claude/icons/bolt.png">    </p:cNvPr>
          <p:cNvPicPr>
            <a:picLocks noChangeAspect="1"/>
          </p:cNvPicPr>
          <p:nvPr/>
        </p:nvPicPr>
        <p:blipFill>
          <a:blip r:embed="rId1"/>
          <a:stretch>
            <a:fillRect/>
          </a:stretch>
        </p:blipFill>
        <p:spPr>
          <a:xfrm>
            <a:off x="781812" y="781812"/>
            <a:ext cx="283464" cy="283464"/>
          </a:xfrm>
          <a:prstGeom prst="rect">
            <a:avLst/>
          </a:prstGeom>
        </p:spPr>
      </p:pic>
      <p:sp>
        <p:nvSpPr>
          <p:cNvPr id="7" name="Text 4"/>
          <p:cNvSpPr/>
          <p:nvPr/>
        </p:nvSpPr>
        <p:spPr>
          <a:xfrm>
            <a:off x="1325880" y="621792"/>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UrjaSetu</a:t>
            </a:r>
            <a:endParaRPr lang="en-US" sz="2200" dirty="0"/>
          </a:p>
        </p:txBody>
      </p:sp>
      <p:sp>
        <p:nvSpPr>
          <p:cNvPr id="8" name="Text 5"/>
          <p:cNvSpPr/>
          <p:nvPr/>
        </p:nvSpPr>
        <p:spPr>
          <a:xfrm>
            <a:off x="822960" y="2331720"/>
            <a:ext cx="10515600" cy="1920240"/>
          </a:xfrm>
          <a:prstGeom prst="rect">
            <a:avLst/>
          </a:prstGeom>
          <a:noFill/>
          <a:ln/>
        </p:spPr>
        <p:txBody>
          <a:bodyPr wrap="square" lIns="0" tIns="0" rIns="0" bIns="0" rtlCol="0" anchor="ctr"/>
          <a:lstStyle/>
          <a:p>
            <a:pPr indent="0" marL="0">
              <a:lnSpc>
                <a:spcPct val="108000"/>
              </a:lnSpc>
              <a:buNone/>
            </a:pPr>
            <a:r>
              <a:rPr lang="en-US" sz="4200" b="1" dirty="0">
                <a:solidFill>
                  <a:srgbClr val="FFFFFF"/>
                </a:solidFill>
                <a:latin typeface="Cambria" pitchFamily="34" charset="0"/>
                <a:ea typeface="Cambria" pitchFamily="34" charset="-122"/>
                <a:cs typeface="Cambria" pitchFamily="34" charset="-120"/>
              </a:rPr>
              <a:t>Microgrid Energy Mix Optimizer:</a:t>
            </a:r>
            <a:endParaRPr lang="en-US" sz="4200" dirty="0"/>
          </a:p>
          <a:p>
            <a:pPr indent="0" marL="0">
              <a:lnSpc>
                <a:spcPct val="108000"/>
              </a:lnSpc>
              <a:buNone/>
            </a:pPr>
            <a:r>
              <a:rPr lang="en-US" sz="4200" b="1" dirty="0">
                <a:solidFill>
                  <a:srgbClr val="FFFFFF"/>
                </a:solidFill>
                <a:latin typeface="Cambria" pitchFamily="34" charset="0"/>
                <a:ea typeface="Cambria" pitchFamily="34" charset="-122"/>
                <a:cs typeface="Cambria" pitchFamily="34" charset="-120"/>
              </a:rPr>
              <a:t>Automatic dispatch that makes operators trust the system</a:t>
            </a:r>
            <a:endParaRPr lang="en-US" sz="4200" dirty="0"/>
          </a:p>
        </p:txBody>
      </p:sp>
      <p:sp>
        <p:nvSpPr>
          <p:cNvPr id="9" name="Text 6"/>
          <p:cNvSpPr/>
          <p:nvPr/>
        </p:nvSpPr>
        <p:spPr>
          <a:xfrm>
            <a:off x="822960" y="4251960"/>
            <a:ext cx="8961120" cy="822960"/>
          </a:xfrm>
          <a:prstGeom prst="rect">
            <a:avLst/>
          </a:prstGeom>
          <a:noFill/>
          <a:ln/>
        </p:spPr>
        <p:txBody>
          <a:bodyPr wrap="square" lIns="0" tIns="0" rIns="0" bIns="0" rtlCol="0" anchor="ctr"/>
          <a:lstStyle/>
          <a:p>
            <a:pPr indent="0" marL="0">
              <a:buNone/>
            </a:pPr>
            <a:r>
              <a:rPr lang="en-US" sz="1600" i="1" dirty="0">
                <a:solidFill>
                  <a:srgbClr val="BFE0DA"/>
                </a:solidFill>
                <a:latin typeface="Calibri" pitchFamily="34" charset="0"/>
                <a:ea typeface="Calibri" pitchFamily="34" charset="-122"/>
                <a:cs typeface="Calibri" pitchFamily="34" charset="-120"/>
              </a:rPr>
              <a:t>Deciding, every fifteen minutes, exactly how to blend solar, wind, battery, and diesel — so the lights never depend on guesswork.</a:t>
            </a:r>
            <a:endParaRPr lang="en-US" sz="1600" dirty="0"/>
          </a:p>
        </p:txBody>
      </p:sp>
      <p:sp>
        <p:nvSpPr>
          <p:cNvPr id="10" name="Shape 7"/>
          <p:cNvSpPr/>
          <p:nvPr/>
        </p:nvSpPr>
        <p:spPr>
          <a:xfrm>
            <a:off x="822960" y="5257800"/>
            <a:ext cx="502920" cy="502920"/>
          </a:xfrm>
          <a:prstGeom prst="ellipse">
            <a:avLst/>
          </a:prstGeom>
          <a:solidFill>
            <a:srgbClr val="129490"/>
          </a:solidFill>
          <a:ln/>
        </p:spPr>
        <p:txBody>
          <a:bodyPr/>
          <a:p/>
        </p:txBody>
      </p:sp>
      <p:pic>
        <p:nvPicPr>
          <p:cNvPr id="11" name="Image 1" descr="/home/claude/icons/solar.png">    </p:cNvPr>
          <p:cNvPicPr>
            <a:picLocks noChangeAspect="1"/>
          </p:cNvPicPr>
          <p:nvPr/>
        </p:nvPicPr>
        <p:blipFill>
          <a:blip r:embed="rId2"/>
          <a:stretch>
            <a:fillRect/>
          </a:stretch>
        </p:blipFill>
        <p:spPr>
          <a:xfrm>
            <a:off x="948690" y="5383530"/>
            <a:ext cx="251460" cy="251460"/>
          </a:xfrm>
          <a:prstGeom prst="rect">
            <a:avLst/>
          </a:prstGeom>
        </p:spPr>
      </p:pic>
      <p:sp>
        <p:nvSpPr>
          <p:cNvPr id="12" name="Text 8"/>
          <p:cNvSpPr/>
          <p:nvPr/>
        </p:nvSpPr>
        <p:spPr>
          <a:xfrm>
            <a:off x="594360" y="5833872"/>
            <a:ext cx="960120" cy="274320"/>
          </a:xfrm>
          <a:prstGeom prst="rect">
            <a:avLst/>
          </a:prstGeom>
          <a:noFill/>
          <a:ln/>
        </p:spPr>
        <p:txBody>
          <a:bodyPr wrap="square" lIns="0" tIns="0" rIns="0" bIns="0" rtlCol="0" anchor="ctr"/>
          <a:lstStyle/>
          <a:p>
            <a:pPr algn="ctr" indent="0" marL="0">
              <a:buNone/>
            </a:pPr>
            <a:r>
              <a:rPr lang="en-US" sz="1100" dirty="0">
                <a:solidFill>
                  <a:srgbClr val="BFE0DA"/>
                </a:solidFill>
                <a:latin typeface="Calibri" pitchFamily="34" charset="0"/>
                <a:ea typeface="Calibri" pitchFamily="34" charset="-122"/>
                <a:cs typeface="Calibri" pitchFamily="34" charset="-120"/>
              </a:rPr>
              <a:t>Solar</a:t>
            </a:r>
            <a:endParaRPr lang="en-US" sz="1100" dirty="0"/>
          </a:p>
        </p:txBody>
      </p:sp>
      <p:sp>
        <p:nvSpPr>
          <p:cNvPr id="13" name="Shape 9"/>
          <p:cNvSpPr/>
          <p:nvPr/>
        </p:nvSpPr>
        <p:spPr>
          <a:xfrm>
            <a:off x="1874520" y="5257800"/>
            <a:ext cx="502920" cy="502920"/>
          </a:xfrm>
          <a:prstGeom prst="ellipse">
            <a:avLst/>
          </a:prstGeom>
          <a:solidFill>
            <a:srgbClr val="129490"/>
          </a:solidFill>
          <a:ln/>
        </p:spPr>
        <p:txBody>
          <a:bodyPr/>
          <a:p/>
        </p:txBody>
      </p:sp>
      <p:pic>
        <p:nvPicPr>
          <p:cNvPr id="14" name="Image 2" descr="/home/claude/icons/wind.png">    </p:cNvPr>
          <p:cNvPicPr>
            <a:picLocks noChangeAspect="1"/>
          </p:cNvPicPr>
          <p:nvPr/>
        </p:nvPicPr>
        <p:blipFill>
          <a:blip r:embed="rId3"/>
          <a:stretch>
            <a:fillRect/>
          </a:stretch>
        </p:blipFill>
        <p:spPr>
          <a:xfrm>
            <a:off x="2000250" y="5383530"/>
            <a:ext cx="251460" cy="251460"/>
          </a:xfrm>
          <a:prstGeom prst="rect">
            <a:avLst/>
          </a:prstGeom>
        </p:spPr>
      </p:pic>
      <p:sp>
        <p:nvSpPr>
          <p:cNvPr id="15" name="Text 10"/>
          <p:cNvSpPr/>
          <p:nvPr/>
        </p:nvSpPr>
        <p:spPr>
          <a:xfrm>
            <a:off x="1645920" y="5833872"/>
            <a:ext cx="960120" cy="274320"/>
          </a:xfrm>
          <a:prstGeom prst="rect">
            <a:avLst/>
          </a:prstGeom>
          <a:noFill/>
          <a:ln/>
        </p:spPr>
        <p:txBody>
          <a:bodyPr wrap="square" lIns="0" tIns="0" rIns="0" bIns="0" rtlCol="0" anchor="ctr"/>
          <a:lstStyle/>
          <a:p>
            <a:pPr algn="ctr" indent="0" marL="0">
              <a:buNone/>
            </a:pPr>
            <a:r>
              <a:rPr lang="en-US" sz="1100" dirty="0">
                <a:solidFill>
                  <a:srgbClr val="BFE0DA"/>
                </a:solidFill>
                <a:latin typeface="Calibri" pitchFamily="34" charset="0"/>
                <a:ea typeface="Calibri" pitchFamily="34" charset="-122"/>
                <a:cs typeface="Calibri" pitchFamily="34" charset="-120"/>
              </a:rPr>
              <a:t>Wind</a:t>
            </a:r>
            <a:endParaRPr lang="en-US" sz="1100" dirty="0"/>
          </a:p>
        </p:txBody>
      </p:sp>
      <p:sp>
        <p:nvSpPr>
          <p:cNvPr id="16" name="Shape 11"/>
          <p:cNvSpPr/>
          <p:nvPr/>
        </p:nvSpPr>
        <p:spPr>
          <a:xfrm>
            <a:off x="2926080" y="5257800"/>
            <a:ext cx="502920" cy="502920"/>
          </a:xfrm>
          <a:prstGeom prst="ellipse">
            <a:avLst/>
          </a:prstGeom>
          <a:solidFill>
            <a:srgbClr val="129490"/>
          </a:solidFill>
          <a:ln/>
        </p:spPr>
        <p:txBody>
          <a:bodyPr/>
          <a:p/>
        </p:txBody>
      </p:sp>
      <p:pic>
        <p:nvPicPr>
          <p:cNvPr id="17" name="Image 3" descr="/home/claude/icons/battery.png">    </p:cNvPr>
          <p:cNvPicPr>
            <a:picLocks noChangeAspect="1"/>
          </p:cNvPicPr>
          <p:nvPr/>
        </p:nvPicPr>
        <p:blipFill>
          <a:blip r:embed="rId4"/>
          <a:stretch>
            <a:fillRect/>
          </a:stretch>
        </p:blipFill>
        <p:spPr>
          <a:xfrm>
            <a:off x="3051810" y="5383530"/>
            <a:ext cx="251460" cy="251460"/>
          </a:xfrm>
          <a:prstGeom prst="rect">
            <a:avLst/>
          </a:prstGeom>
        </p:spPr>
      </p:pic>
      <p:sp>
        <p:nvSpPr>
          <p:cNvPr id="18" name="Text 12"/>
          <p:cNvSpPr/>
          <p:nvPr/>
        </p:nvSpPr>
        <p:spPr>
          <a:xfrm>
            <a:off x="2697480" y="5833872"/>
            <a:ext cx="960120" cy="274320"/>
          </a:xfrm>
          <a:prstGeom prst="rect">
            <a:avLst/>
          </a:prstGeom>
          <a:noFill/>
          <a:ln/>
        </p:spPr>
        <p:txBody>
          <a:bodyPr wrap="square" lIns="0" tIns="0" rIns="0" bIns="0" rtlCol="0" anchor="ctr"/>
          <a:lstStyle/>
          <a:p>
            <a:pPr algn="ctr" indent="0" marL="0">
              <a:buNone/>
            </a:pPr>
            <a:r>
              <a:rPr lang="en-US" sz="1100" dirty="0">
                <a:solidFill>
                  <a:srgbClr val="BFE0DA"/>
                </a:solidFill>
                <a:latin typeface="Calibri" pitchFamily="34" charset="0"/>
                <a:ea typeface="Calibri" pitchFamily="34" charset="-122"/>
                <a:cs typeface="Calibri" pitchFamily="34" charset="-120"/>
              </a:rPr>
              <a:t>Battery</a:t>
            </a:r>
            <a:endParaRPr lang="en-US" sz="1100" dirty="0"/>
          </a:p>
        </p:txBody>
      </p:sp>
      <p:sp>
        <p:nvSpPr>
          <p:cNvPr id="19" name="Shape 13"/>
          <p:cNvSpPr/>
          <p:nvPr/>
        </p:nvSpPr>
        <p:spPr>
          <a:xfrm>
            <a:off x="3977640" y="5257800"/>
            <a:ext cx="502920" cy="502920"/>
          </a:xfrm>
          <a:prstGeom prst="ellipse">
            <a:avLst/>
          </a:prstGeom>
          <a:solidFill>
            <a:srgbClr val="129490"/>
          </a:solidFill>
          <a:ln/>
        </p:spPr>
        <p:txBody>
          <a:bodyPr/>
          <a:p/>
        </p:txBody>
      </p:sp>
      <p:pic>
        <p:nvPicPr>
          <p:cNvPr id="20" name="Image 4" descr="/home/claude/icons/diesel.png">    </p:cNvPr>
          <p:cNvPicPr>
            <a:picLocks noChangeAspect="1"/>
          </p:cNvPicPr>
          <p:nvPr/>
        </p:nvPicPr>
        <p:blipFill>
          <a:blip r:embed="rId5"/>
          <a:stretch>
            <a:fillRect/>
          </a:stretch>
        </p:blipFill>
        <p:spPr>
          <a:xfrm>
            <a:off x="4103370" y="5383530"/>
            <a:ext cx="251460" cy="251460"/>
          </a:xfrm>
          <a:prstGeom prst="rect">
            <a:avLst/>
          </a:prstGeom>
        </p:spPr>
      </p:pic>
      <p:sp>
        <p:nvSpPr>
          <p:cNvPr id="21" name="Text 14"/>
          <p:cNvSpPr/>
          <p:nvPr/>
        </p:nvSpPr>
        <p:spPr>
          <a:xfrm>
            <a:off x="3749040" y="5833872"/>
            <a:ext cx="960120" cy="274320"/>
          </a:xfrm>
          <a:prstGeom prst="rect">
            <a:avLst/>
          </a:prstGeom>
          <a:noFill/>
          <a:ln/>
        </p:spPr>
        <p:txBody>
          <a:bodyPr wrap="square" lIns="0" tIns="0" rIns="0" bIns="0" rtlCol="0" anchor="ctr"/>
          <a:lstStyle/>
          <a:p>
            <a:pPr algn="ctr" indent="0" marL="0">
              <a:buNone/>
            </a:pPr>
            <a:r>
              <a:rPr lang="en-US" sz="1100" dirty="0">
                <a:solidFill>
                  <a:srgbClr val="BFE0DA"/>
                </a:solidFill>
                <a:latin typeface="Calibri" pitchFamily="34" charset="0"/>
                <a:ea typeface="Calibri" pitchFamily="34" charset="-122"/>
                <a:cs typeface="Calibri" pitchFamily="34" charset="-120"/>
              </a:rPr>
              <a:t>Diesel</a:t>
            </a:r>
            <a:endParaRPr lang="en-US" sz="1100" dirty="0"/>
          </a:p>
        </p:txBody>
      </p:sp>
      <p:sp>
        <p:nvSpPr>
          <p:cNvPr id="22" name="Text 15"/>
          <p:cNvSpPr/>
          <p:nvPr/>
        </p:nvSpPr>
        <p:spPr>
          <a:xfrm>
            <a:off x="8257032" y="5989320"/>
            <a:ext cx="3291840" cy="32004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Team TATVA</a:t>
            </a:r>
            <a:endParaRPr lang="en-US" sz="1300" dirty="0"/>
          </a:p>
        </p:txBody>
      </p:sp>
      <p:sp>
        <p:nvSpPr>
          <p:cNvPr id="23" name="Text 16"/>
          <p:cNvSpPr/>
          <p:nvPr/>
        </p:nvSpPr>
        <p:spPr>
          <a:xfrm>
            <a:off x="8257032" y="6263640"/>
            <a:ext cx="3291840" cy="274320"/>
          </a:xfrm>
          <a:prstGeom prst="rect">
            <a:avLst/>
          </a:prstGeom>
          <a:noFill/>
          <a:ln/>
        </p:spPr>
        <p:txBody>
          <a:bodyPr wrap="square" lIns="0" tIns="0" rIns="0" bIns="0" rtlCol="0" anchor="ctr"/>
          <a:lstStyle/>
          <a:p>
            <a:pPr algn="r" indent="0" marL="0">
              <a:buNone/>
            </a:pPr>
            <a:r>
              <a:rPr lang="en-US" sz="1050" dirty="0">
                <a:solidFill>
                  <a:srgbClr val="9FC7C1"/>
                </a:solidFill>
                <a:latin typeface="Calibri" pitchFamily="34" charset="0"/>
                <a:ea typeface="Calibri" pitchFamily="34" charset="-122"/>
                <a:cs typeface="Calibri" pitchFamily="34" charset="-120"/>
              </a:rPr>
              <a:t>HackOut'26 · Renewable Energy Intelligence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01 · PROBLEM STATEMENT</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Inefficient Dispatch Decisions Increase Operating Costs</a:t>
            </a:r>
            <a:endParaRPr lang="en-US" sz="3200" dirty="0"/>
          </a:p>
        </p:txBody>
      </p:sp>
      <p:sp>
        <p:nvSpPr>
          <p:cNvPr id="4" name="Text 2"/>
          <p:cNvSpPr/>
          <p:nvPr/>
        </p:nvSpPr>
        <p:spPr>
          <a:xfrm>
            <a:off x="640080" y="1508760"/>
            <a:ext cx="10515600" cy="777240"/>
          </a:xfrm>
          <a:prstGeom prst="rect">
            <a:avLst/>
          </a:prstGeom>
          <a:noFill/>
          <a:ln/>
        </p:spPr>
        <p:txBody>
          <a:bodyPr wrap="square" lIns="0" tIns="0" rIns="0" bIns="0" rtlCol="0" anchor="ctr"/>
          <a:lstStyle/>
          <a:p>
            <a:pPr indent="0" marL="0">
              <a:buNone/>
            </a:pPr>
            <a:r>
              <a:rPr lang="en-US" sz="1500" dirty="0">
                <a:solidFill>
                  <a:srgbClr val="5C6E6A"/>
                </a:solidFill>
                <a:latin typeface="Calibri" pitchFamily="34" charset="0"/>
                <a:ea typeface="Calibri" pitchFamily="34" charset="-122"/>
                <a:cs typeface="Calibri" pitchFamily="34" charset="-120"/>
              </a:rPr>
              <a:t>Right now dispatch is either a fixed schedule — diesel runs six to nine, no matter what — or whatever the operator on duty feels like doing. That produces three costly patterns, over and over:</a:t>
            </a:r>
            <a:endParaRPr lang="en-US" sz="1500" dirty="0"/>
          </a:p>
        </p:txBody>
      </p:sp>
      <p:sp>
        <p:nvSpPr>
          <p:cNvPr id="5" name="Shape 3"/>
          <p:cNvSpPr/>
          <p:nvPr/>
        </p:nvSpPr>
        <p:spPr>
          <a:xfrm>
            <a:off x="640080" y="2606040"/>
            <a:ext cx="3502152" cy="3108960"/>
          </a:xfrm>
          <a:prstGeom prst="roundRect">
            <a:avLst>
              <a:gd name="adj" fmla="val 2941"/>
            </a:avLst>
          </a:prstGeom>
          <a:solidFill>
            <a:srgbClr val="F6FAF9"/>
          </a:solidFill>
          <a:ln w="12700">
            <a:solidFill>
              <a:srgbClr val="D8E6E3"/>
            </a:solidFill>
            <a:prstDash val="solid"/>
          </a:ln>
        </p:spPr>
        <p:txBody>
          <a:bodyPr/>
          <a:p/>
        </p:txBody>
      </p:sp>
      <p:sp>
        <p:nvSpPr>
          <p:cNvPr id="6" name="Shape 4"/>
          <p:cNvSpPr/>
          <p:nvPr/>
        </p:nvSpPr>
        <p:spPr>
          <a:xfrm>
            <a:off x="960120" y="2926080"/>
            <a:ext cx="685800" cy="685800"/>
          </a:xfrm>
          <a:prstGeom prst="ellipse">
            <a:avLst/>
          </a:prstGeom>
          <a:solidFill>
            <a:srgbClr val="0B4F4A"/>
          </a:solidFill>
          <a:ln/>
        </p:spPr>
        <p:txBody>
          <a:bodyPr/>
          <a:p/>
        </p:txBody>
      </p:sp>
      <p:pic>
        <p:nvPicPr>
          <p:cNvPr id="7" name="Image 0" descr="/home/claude/icons/diesel.png">    </p:cNvPr>
          <p:cNvPicPr>
            <a:picLocks noChangeAspect="1"/>
          </p:cNvPicPr>
          <p:nvPr/>
        </p:nvPicPr>
        <p:blipFill>
          <a:blip r:embed="rId1"/>
          <a:stretch>
            <a:fillRect/>
          </a:stretch>
        </p:blipFill>
        <p:spPr>
          <a:xfrm>
            <a:off x="1131570" y="3097530"/>
            <a:ext cx="342900" cy="342900"/>
          </a:xfrm>
          <a:prstGeom prst="rect">
            <a:avLst/>
          </a:prstGeom>
        </p:spPr>
      </p:pic>
      <p:sp>
        <p:nvSpPr>
          <p:cNvPr id="8" name="Text 5"/>
          <p:cNvSpPr/>
          <p:nvPr/>
        </p:nvSpPr>
        <p:spPr>
          <a:xfrm>
            <a:off x="960120" y="3794760"/>
            <a:ext cx="2862072" cy="685800"/>
          </a:xfrm>
          <a:prstGeom prst="rect">
            <a:avLst/>
          </a:prstGeom>
          <a:noFill/>
          <a:ln/>
        </p:spPr>
        <p:txBody>
          <a:bodyPr wrap="square" lIns="0" tIns="0" rIns="0" bIns="0" rtlCol="0" anchor="ctr"/>
          <a:lstStyle/>
          <a:p>
            <a:pPr indent="0" marL="0">
              <a:buNone/>
            </a:pPr>
            <a:r>
              <a:rPr lang="en-US" sz="1700" b="1" dirty="0">
                <a:solidFill>
                  <a:srgbClr val="172622"/>
                </a:solidFill>
                <a:latin typeface="Cambria" pitchFamily="34" charset="0"/>
                <a:ea typeface="Cambria" pitchFamily="34" charset="-122"/>
                <a:cs typeface="Cambria" pitchFamily="34" charset="-120"/>
              </a:rPr>
              <a:t>Diesel burns needlessly</a:t>
            </a:r>
            <a:endParaRPr lang="en-US" sz="1700" dirty="0"/>
          </a:p>
        </p:txBody>
      </p:sp>
      <p:sp>
        <p:nvSpPr>
          <p:cNvPr id="9" name="Text 6"/>
          <p:cNvSpPr/>
          <p:nvPr/>
        </p:nvSpPr>
        <p:spPr>
          <a:xfrm>
            <a:off x="960120" y="4434840"/>
            <a:ext cx="2862072" cy="1143000"/>
          </a:xfrm>
          <a:prstGeom prst="rect">
            <a:avLst/>
          </a:prstGeom>
          <a:noFill/>
          <a:ln/>
        </p:spPr>
        <p:txBody>
          <a:bodyPr wrap="square" lIns="0" tIns="0" rIns="0" bIns="0" rtlCol="0" anchor="ctr"/>
          <a:lstStyle/>
          <a:p>
            <a:pPr indent="0" marL="0">
              <a:buNone/>
            </a:pPr>
            <a:r>
              <a:rPr lang="en-US" sz="1300" dirty="0">
                <a:solidFill>
                  <a:srgbClr val="5C6E6A"/>
                </a:solidFill>
                <a:latin typeface="Calibri" pitchFamily="34" charset="0"/>
                <a:ea typeface="Calibri" pitchFamily="34" charset="-122"/>
                <a:cs typeface="Calibri" pitchFamily="34" charset="-120"/>
              </a:rPr>
              <a:t>Generator kicks in even when solar was already covering the load.</a:t>
            </a:r>
            <a:endParaRPr lang="en-US" sz="1300" dirty="0"/>
          </a:p>
        </p:txBody>
      </p:sp>
      <p:sp>
        <p:nvSpPr>
          <p:cNvPr id="10" name="Shape 7"/>
          <p:cNvSpPr/>
          <p:nvPr/>
        </p:nvSpPr>
        <p:spPr>
          <a:xfrm>
            <a:off x="4370832" y="2606040"/>
            <a:ext cx="3502152" cy="3108960"/>
          </a:xfrm>
          <a:prstGeom prst="roundRect">
            <a:avLst>
              <a:gd name="adj" fmla="val 2941"/>
            </a:avLst>
          </a:prstGeom>
          <a:solidFill>
            <a:srgbClr val="F6FAF9"/>
          </a:solidFill>
          <a:ln w="12700">
            <a:solidFill>
              <a:srgbClr val="D8E6E3"/>
            </a:solidFill>
            <a:prstDash val="solid"/>
          </a:ln>
        </p:spPr>
        <p:txBody>
          <a:bodyPr/>
          <a:p/>
        </p:txBody>
      </p:sp>
      <p:sp>
        <p:nvSpPr>
          <p:cNvPr id="11" name="Shape 8"/>
          <p:cNvSpPr/>
          <p:nvPr/>
        </p:nvSpPr>
        <p:spPr>
          <a:xfrm>
            <a:off x="4690872" y="2926080"/>
            <a:ext cx="685800" cy="685800"/>
          </a:xfrm>
          <a:prstGeom prst="ellipse">
            <a:avLst/>
          </a:prstGeom>
          <a:solidFill>
            <a:srgbClr val="0B4F4A"/>
          </a:solidFill>
          <a:ln/>
        </p:spPr>
        <p:txBody>
          <a:bodyPr/>
          <a:p/>
        </p:txBody>
      </p:sp>
      <p:pic>
        <p:nvPicPr>
          <p:cNvPr id="12" name="Image 1" descr="/home/claude/icons/battery.png">    </p:cNvPr>
          <p:cNvPicPr>
            <a:picLocks noChangeAspect="1"/>
          </p:cNvPicPr>
          <p:nvPr/>
        </p:nvPicPr>
        <p:blipFill>
          <a:blip r:embed="rId2"/>
          <a:stretch>
            <a:fillRect/>
          </a:stretch>
        </p:blipFill>
        <p:spPr>
          <a:xfrm>
            <a:off x="4862322" y="3097530"/>
            <a:ext cx="342900" cy="342900"/>
          </a:xfrm>
          <a:prstGeom prst="rect">
            <a:avLst/>
          </a:prstGeom>
        </p:spPr>
      </p:pic>
      <p:sp>
        <p:nvSpPr>
          <p:cNvPr id="13" name="Text 9"/>
          <p:cNvSpPr/>
          <p:nvPr/>
        </p:nvSpPr>
        <p:spPr>
          <a:xfrm>
            <a:off x="4690872" y="3794760"/>
            <a:ext cx="2862072" cy="685800"/>
          </a:xfrm>
          <a:prstGeom prst="rect">
            <a:avLst/>
          </a:prstGeom>
          <a:noFill/>
          <a:ln/>
        </p:spPr>
        <p:txBody>
          <a:bodyPr wrap="square" lIns="0" tIns="0" rIns="0" bIns="0" rtlCol="0" anchor="ctr"/>
          <a:lstStyle/>
          <a:p>
            <a:pPr indent="0" marL="0">
              <a:buNone/>
            </a:pPr>
            <a:r>
              <a:rPr lang="en-US" sz="1700" b="1" dirty="0">
                <a:solidFill>
                  <a:srgbClr val="172622"/>
                </a:solidFill>
                <a:latin typeface="Cambria" pitchFamily="34" charset="0"/>
                <a:ea typeface="Cambria" pitchFamily="34" charset="-122"/>
                <a:cs typeface="Cambria" pitchFamily="34" charset="-120"/>
              </a:rPr>
              <a:t>Batteries die early</a:t>
            </a:r>
            <a:endParaRPr lang="en-US" sz="1700" dirty="0"/>
          </a:p>
        </p:txBody>
      </p:sp>
      <p:sp>
        <p:nvSpPr>
          <p:cNvPr id="14" name="Text 10"/>
          <p:cNvSpPr/>
          <p:nvPr/>
        </p:nvSpPr>
        <p:spPr>
          <a:xfrm>
            <a:off x="4690872" y="4434840"/>
            <a:ext cx="2862072" cy="1143000"/>
          </a:xfrm>
          <a:prstGeom prst="rect">
            <a:avLst/>
          </a:prstGeom>
          <a:noFill/>
          <a:ln/>
        </p:spPr>
        <p:txBody>
          <a:bodyPr wrap="square" lIns="0" tIns="0" rIns="0" bIns="0" rtlCol="0" anchor="ctr"/>
          <a:lstStyle/>
          <a:p>
            <a:pPr indent="0" marL="0">
              <a:buNone/>
            </a:pPr>
            <a:r>
              <a:rPr lang="en-US" sz="1300" dirty="0">
                <a:solidFill>
                  <a:srgbClr val="5C6E6A"/>
                </a:solidFill>
                <a:latin typeface="Calibri" pitchFamily="34" charset="0"/>
                <a:ea typeface="Calibri" pitchFamily="34" charset="-122"/>
                <a:cs typeface="Calibri" pitchFamily="34" charset="-120"/>
              </a:rPr>
              <a:t>Poor cycling and deep discharges wear packs out years ahead of schedule.</a:t>
            </a:r>
            <a:endParaRPr lang="en-US" sz="1300" dirty="0"/>
          </a:p>
        </p:txBody>
      </p:sp>
      <p:sp>
        <p:nvSpPr>
          <p:cNvPr id="15" name="Shape 11"/>
          <p:cNvSpPr/>
          <p:nvPr/>
        </p:nvSpPr>
        <p:spPr>
          <a:xfrm>
            <a:off x="8101584" y="2606040"/>
            <a:ext cx="3502152" cy="3108960"/>
          </a:xfrm>
          <a:prstGeom prst="roundRect">
            <a:avLst>
              <a:gd name="adj" fmla="val 2941"/>
            </a:avLst>
          </a:prstGeom>
          <a:solidFill>
            <a:srgbClr val="F6FAF9"/>
          </a:solidFill>
          <a:ln w="12700">
            <a:solidFill>
              <a:srgbClr val="D8E6E3"/>
            </a:solidFill>
            <a:prstDash val="solid"/>
          </a:ln>
        </p:spPr>
        <p:txBody>
          <a:bodyPr/>
          <a:p/>
        </p:txBody>
      </p:sp>
      <p:sp>
        <p:nvSpPr>
          <p:cNvPr id="16" name="Shape 12"/>
          <p:cNvSpPr/>
          <p:nvPr/>
        </p:nvSpPr>
        <p:spPr>
          <a:xfrm>
            <a:off x="8421624" y="2926080"/>
            <a:ext cx="685800" cy="685800"/>
          </a:xfrm>
          <a:prstGeom prst="ellipse">
            <a:avLst/>
          </a:prstGeom>
          <a:solidFill>
            <a:srgbClr val="0B4F4A"/>
          </a:solidFill>
          <a:ln/>
        </p:spPr>
        <p:txBody>
          <a:bodyPr/>
          <a:p/>
        </p:txBody>
      </p:sp>
      <p:pic>
        <p:nvPicPr>
          <p:cNvPr id="17" name="Image 2" descr="/home/claude/icons/warning.png">    </p:cNvPr>
          <p:cNvPicPr>
            <a:picLocks noChangeAspect="1"/>
          </p:cNvPicPr>
          <p:nvPr/>
        </p:nvPicPr>
        <p:blipFill>
          <a:blip r:embed="rId3"/>
          <a:stretch>
            <a:fillRect/>
          </a:stretch>
        </p:blipFill>
        <p:spPr>
          <a:xfrm>
            <a:off x="8593074" y="3097530"/>
            <a:ext cx="342900" cy="342900"/>
          </a:xfrm>
          <a:prstGeom prst="rect">
            <a:avLst/>
          </a:prstGeom>
        </p:spPr>
      </p:pic>
      <p:sp>
        <p:nvSpPr>
          <p:cNvPr id="18" name="Text 13"/>
          <p:cNvSpPr/>
          <p:nvPr/>
        </p:nvSpPr>
        <p:spPr>
          <a:xfrm>
            <a:off x="8421624" y="3794760"/>
            <a:ext cx="2862072" cy="685800"/>
          </a:xfrm>
          <a:prstGeom prst="rect">
            <a:avLst/>
          </a:prstGeom>
          <a:noFill/>
          <a:ln/>
        </p:spPr>
        <p:txBody>
          <a:bodyPr wrap="square" lIns="0" tIns="0" rIns="0" bIns="0" rtlCol="0" anchor="ctr"/>
          <a:lstStyle/>
          <a:p>
            <a:pPr indent="0" marL="0">
              <a:buNone/>
            </a:pPr>
            <a:r>
              <a:rPr lang="en-US" sz="1700" b="1" dirty="0">
                <a:solidFill>
                  <a:srgbClr val="172622"/>
                </a:solidFill>
                <a:latin typeface="Cambria" pitchFamily="34" charset="0"/>
                <a:ea typeface="Cambria" pitchFamily="34" charset="-122"/>
                <a:cs typeface="Cambria" pitchFamily="34" charset="-120"/>
              </a:rPr>
              <a:t>Blackouts catch everyone off guard</a:t>
            </a:r>
            <a:endParaRPr lang="en-US" sz="1700" dirty="0"/>
          </a:p>
        </p:txBody>
      </p:sp>
      <p:sp>
        <p:nvSpPr>
          <p:cNvPr id="19" name="Text 14"/>
          <p:cNvSpPr/>
          <p:nvPr/>
        </p:nvSpPr>
        <p:spPr>
          <a:xfrm>
            <a:off x="8421624" y="4434840"/>
            <a:ext cx="2862072" cy="1143000"/>
          </a:xfrm>
          <a:prstGeom prst="rect">
            <a:avLst/>
          </a:prstGeom>
          <a:noFill/>
          <a:ln/>
        </p:spPr>
        <p:txBody>
          <a:bodyPr wrap="square" lIns="0" tIns="0" rIns="0" bIns="0" rtlCol="0" anchor="ctr"/>
          <a:lstStyle/>
          <a:p>
            <a:pPr indent="0" marL="0">
              <a:buNone/>
            </a:pPr>
            <a:r>
              <a:rPr lang="en-US" sz="1300" dirty="0">
                <a:solidFill>
                  <a:srgbClr val="5C6E6A"/>
                </a:solidFill>
                <a:latin typeface="Calibri" pitchFamily="34" charset="0"/>
                <a:ea typeface="Calibri" pitchFamily="34" charset="-122"/>
                <a:cs typeface="Calibri" pitchFamily="34" charset="-120"/>
              </a:rPr>
              <a:t>No one is watching the shortfall coming until it's already dark.</a:t>
            </a:r>
            <a:endParaRPr lang="en-US" sz="1300" dirty="0"/>
          </a:p>
        </p:txBody>
      </p:sp>
      <p:sp>
        <p:nvSpPr>
          <p:cNvPr id="20" name="Text 15"/>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21" name="Text 16"/>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02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02 · SIGNIFICANCE &amp; RATIONALE</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Explainable Dispatch Decisions for Operator Confidence</a:t>
            </a:r>
            <a:endParaRPr lang="en-US" sz="3200" dirty="0"/>
          </a:p>
        </p:txBody>
      </p:sp>
      <p:sp>
        <p:nvSpPr>
          <p:cNvPr id="4" name="Shape 2"/>
          <p:cNvSpPr/>
          <p:nvPr/>
        </p:nvSpPr>
        <p:spPr>
          <a:xfrm>
            <a:off x="640080" y="1737360"/>
            <a:ext cx="5074920" cy="4114800"/>
          </a:xfrm>
          <a:prstGeom prst="roundRect">
            <a:avLst>
              <a:gd name="adj" fmla="val 2222"/>
            </a:avLst>
          </a:prstGeom>
          <a:solidFill>
            <a:srgbClr val="E7F2F0"/>
          </a:solidFill>
          <a:ln/>
        </p:spPr>
        <p:txBody>
          <a:bodyPr/>
          <a:p/>
        </p:txBody>
      </p:sp>
      <p:sp>
        <p:nvSpPr>
          <p:cNvPr id="5" name="Shape 3"/>
          <p:cNvSpPr/>
          <p:nvPr/>
        </p:nvSpPr>
        <p:spPr>
          <a:xfrm>
            <a:off x="960120" y="2057400"/>
            <a:ext cx="640080" cy="640080"/>
          </a:xfrm>
          <a:prstGeom prst="ellipse">
            <a:avLst/>
          </a:prstGeom>
          <a:solidFill>
            <a:srgbClr val="129490"/>
          </a:solidFill>
          <a:ln/>
        </p:spPr>
        <p:txBody>
          <a:bodyPr/>
          <a:p/>
        </p:txBody>
      </p:sp>
      <p:pic>
        <p:nvPicPr>
          <p:cNvPr id="6" name="Image 0" descr="/home/claude/icons/check.png">    </p:cNvPr>
          <p:cNvPicPr>
            <a:picLocks noChangeAspect="1"/>
          </p:cNvPicPr>
          <p:nvPr/>
        </p:nvPicPr>
        <p:blipFill>
          <a:blip r:embed="rId1"/>
          <a:stretch>
            <a:fillRect/>
          </a:stretch>
        </p:blipFill>
        <p:spPr>
          <a:xfrm>
            <a:off x="1120140" y="2217420"/>
            <a:ext cx="320040" cy="320040"/>
          </a:xfrm>
          <a:prstGeom prst="rect">
            <a:avLst/>
          </a:prstGeom>
        </p:spPr>
      </p:pic>
      <p:sp>
        <p:nvSpPr>
          <p:cNvPr id="7" name="Text 4"/>
          <p:cNvSpPr/>
          <p:nvPr/>
        </p:nvSpPr>
        <p:spPr>
          <a:xfrm>
            <a:off x="1783080" y="2103120"/>
            <a:ext cx="3749040" cy="548640"/>
          </a:xfrm>
          <a:prstGeom prst="rect">
            <a:avLst/>
          </a:prstGeom>
          <a:noFill/>
          <a:ln/>
        </p:spPr>
        <p:txBody>
          <a:bodyPr wrap="square" lIns="0" tIns="0" rIns="0" bIns="0" rtlCol="0" anchor="ctr"/>
          <a:lstStyle/>
          <a:p>
            <a:pPr indent="0" marL="0">
              <a:buNone/>
            </a:pPr>
            <a:r>
              <a:rPr lang="en-US" sz="1700" b="1" dirty="0">
                <a:solidFill>
                  <a:srgbClr val="172622"/>
                </a:solidFill>
                <a:latin typeface="Cambria" pitchFamily="34" charset="0"/>
                <a:ea typeface="Cambria" pitchFamily="34" charset="-122"/>
                <a:cs typeface="Cambria" pitchFamily="34" charset="-120"/>
              </a:rPr>
              <a:t>An optimization problem, solved</a:t>
            </a:r>
            <a:endParaRPr lang="en-US" sz="1700" dirty="0"/>
          </a:p>
        </p:txBody>
      </p:sp>
      <p:sp>
        <p:nvSpPr>
          <p:cNvPr id="8" name="Text 5"/>
          <p:cNvSpPr/>
          <p:nvPr/>
        </p:nvSpPr>
        <p:spPr>
          <a:xfrm>
            <a:off x="960120" y="2880360"/>
            <a:ext cx="4480560" cy="2651760"/>
          </a:xfrm>
          <a:prstGeom prst="rect">
            <a:avLst/>
          </a:prstGeom>
          <a:noFill/>
          <a:ln/>
        </p:spPr>
        <p:txBody>
          <a:bodyPr wrap="square" lIns="0" tIns="0" rIns="0" bIns="0" rtlCol="0" anchor="t"/>
          <a:lstStyle/>
          <a:p>
            <a:pPr indent="0" marL="0">
              <a:buNone/>
            </a:pPr>
            <a:r>
              <a:rPr lang="en-US" sz="1400" dirty="0">
                <a:solidFill>
                  <a:srgbClr val="5C6E6A"/>
                </a:solidFill>
                <a:latin typeface="Calibri" pitchFamily="34" charset="0"/>
                <a:ea typeface="Calibri" pitchFamily="34" charset="-122"/>
                <a:cs typeface="Calibri" pitchFamily="34" charset="-120"/>
              </a:rPr>
              <a:t>Strip away the jargon and this is just: figure out what's coming, then pick the cheapest, cleanest mix that still keeps the lights on. LP and MILP solve that part fine — the research backs it up.</a:t>
            </a:r>
            <a:endParaRPr lang="en-US" sz="1400" dirty="0"/>
          </a:p>
        </p:txBody>
      </p:sp>
      <p:sp>
        <p:nvSpPr>
          <p:cNvPr id="9" name="Shape 6"/>
          <p:cNvSpPr/>
          <p:nvPr/>
        </p:nvSpPr>
        <p:spPr>
          <a:xfrm>
            <a:off x="5989320" y="1737360"/>
            <a:ext cx="5577840" cy="4114800"/>
          </a:xfrm>
          <a:prstGeom prst="roundRect">
            <a:avLst>
              <a:gd name="adj" fmla="val 2222"/>
            </a:avLst>
          </a:prstGeom>
          <a:solidFill>
            <a:srgbClr val="0B4F4A"/>
          </a:solidFill>
          <a:ln/>
        </p:spPr>
        <p:txBody>
          <a:bodyPr/>
          <a:p/>
        </p:txBody>
      </p:sp>
      <p:sp>
        <p:nvSpPr>
          <p:cNvPr id="10" name="Shape 7"/>
          <p:cNvSpPr/>
          <p:nvPr/>
        </p:nvSpPr>
        <p:spPr>
          <a:xfrm>
            <a:off x="6309360" y="2057400"/>
            <a:ext cx="640080" cy="640080"/>
          </a:xfrm>
          <a:prstGeom prst="ellipse">
            <a:avLst/>
          </a:prstGeom>
          <a:solidFill>
            <a:srgbClr val="E8A33D"/>
          </a:solidFill>
          <a:ln/>
        </p:spPr>
        <p:txBody>
          <a:bodyPr/>
          <a:p/>
        </p:txBody>
      </p:sp>
      <p:pic>
        <p:nvPicPr>
          <p:cNvPr id="11" name="Image 1" descr="/home/claude/icons/handshake.png">    </p:cNvPr>
          <p:cNvPicPr>
            <a:picLocks noChangeAspect="1"/>
          </p:cNvPicPr>
          <p:nvPr/>
        </p:nvPicPr>
        <p:blipFill>
          <a:blip r:embed="rId2"/>
          <a:stretch>
            <a:fillRect/>
          </a:stretch>
        </p:blipFill>
        <p:spPr>
          <a:xfrm>
            <a:off x="6469380" y="2217420"/>
            <a:ext cx="320040" cy="320040"/>
          </a:xfrm>
          <a:prstGeom prst="rect">
            <a:avLst/>
          </a:prstGeom>
        </p:spPr>
      </p:pic>
      <p:sp>
        <p:nvSpPr>
          <p:cNvPr id="12" name="Text 8"/>
          <p:cNvSpPr/>
          <p:nvPr/>
        </p:nvSpPr>
        <p:spPr>
          <a:xfrm>
            <a:off x="7132320" y="2103120"/>
            <a:ext cx="4206240" cy="5486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What actually surprised us: trust</a:t>
            </a:r>
            <a:endParaRPr lang="en-US" sz="1700" dirty="0"/>
          </a:p>
        </p:txBody>
      </p:sp>
      <p:sp>
        <p:nvSpPr>
          <p:cNvPr id="13" name="Text 9"/>
          <p:cNvSpPr/>
          <p:nvPr/>
        </p:nvSpPr>
        <p:spPr>
          <a:xfrm>
            <a:off x="6309360" y="2880360"/>
            <a:ext cx="5029200" cy="2651760"/>
          </a:xfrm>
          <a:prstGeom prst="rect">
            <a:avLst/>
          </a:prstGeom>
          <a:noFill/>
          <a:ln/>
        </p:spPr>
        <p:txBody>
          <a:bodyPr wrap="square" lIns="0" tIns="0" rIns="0" bIns="0" rtlCol="0" anchor="t"/>
          <a:lstStyle/>
          <a:p>
            <a:pPr indent="0" marL="0">
              <a:buNone/>
            </a:pPr>
            <a:r>
              <a:rPr lang="en-US" sz="1400" dirty="0">
                <a:solidFill>
                  <a:srgbClr val="D9EDE9"/>
                </a:solidFill>
                <a:latin typeface="Calibri" pitchFamily="34" charset="0"/>
                <a:ea typeface="Calibri" pitchFamily="34" charset="-122"/>
                <a:cs typeface="Calibri" pitchFamily="34" charset="-120"/>
              </a:rPr>
              <a:t>If an operator watches diesel kick in with no idea why, they don't trust the system — they switch it to manual and go back to guessing. So explaining why isn't a nice-to-have bolted on at the end. It's load-bearing.</a:t>
            </a:r>
            <a:endParaRPr lang="en-US" sz="1400" dirty="0"/>
          </a:p>
        </p:txBody>
      </p:sp>
      <p:sp>
        <p:nvSpPr>
          <p:cNvPr id="14" name="Text 10"/>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15" name="Text 11"/>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03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03 · KEY CHALLENGES</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Key Gaps Limiting Intelligent Microgrid Automation</a:t>
            </a:r>
            <a:endParaRPr lang="en-US" sz="3200" dirty="0"/>
          </a:p>
        </p:txBody>
      </p:sp>
      <p:sp>
        <p:nvSpPr>
          <p:cNvPr id="4" name="Shape 2"/>
          <p:cNvSpPr/>
          <p:nvPr/>
        </p:nvSpPr>
        <p:spPr>
          <a:xfrm>
            <a:off x="640080" y="1691640"/>
            <a:ext cx="3502152" cy="1874520"/>
          </a:xfrm>
          <a:prstGeom prst="roundRect">
            <a:avLst>
              <a:gd name="adj" fmla="val 4390"/>
            </a:avLst>
          </a:prstGeom>
          <a:solidFill>
            <a:srgbClr val="F6FAF9"/>
          </a:solidFill>
          <a:ln w="12700">
            <a:solidFill>
              <a:srgbClr val="D8E6E3"/>
            </a:solidFill>
            <a:prstDash val="solid"/>
          </a:ln>
        </p:spPr>
        <p:txBody>
          <a:bodyPr/>
          <a:p/>
        </p:txBody>
      </p:sp>
      <p:sp>
        <p:nvSpPr>
          <p:cNvPr id="5" name="Shape 3"/>
          <p:cNvSpPr/>
          <p:nvPr/>
        </p:nvSpPr>
        <p:spPr>
          <a:xfrm>
            <a:off x="896112" y="1984248"/>
            <a:ext cx="566928" cy="566928"/>
          </a:xfrm>
          <a:prstGeom prst="ellipse">
            <a:avLst/>
          </a:prstGeom>
          <a:solidFill>
            <a:srgbClr val="0B4F4A"/>
          </a:solidFill>
          <a:ln/>
        </p:spPr>
        <p:txBody>
          <a:bodyPr/>
          <a:p/>
        </p:txBody>
      </p:sp>
      <p:pic>
        <p:nvPicPr>
          <p:cNvPr id="6" name="Image 0" descr="/home/claude/icons/warning.png">    </p:cNvPr>
          <p:cNvPicPr>
            <a:picLocks noChangeAspect="1"/>
          </p:cNvPicPr>
          <p:nvPr/>
        </p:nvPicPr>
        <p:blipFill>
          <a:blip r:embed="rId1"/>
          <a:stretch>
            <a:fillRect/>
          </a:stretch>
        </p:blipFill>
        <p:spPr>
          <a:xfrm>
            <a:off x="1037844" y="2125980"/>
            <a:ext cx="283464" cy="283464"/>
          </a:xfrm>
          <a:prstGeom prst="rect">
            <a:avLst/>
          </a:prstGeom>
        </p:spPr>
      </p:pic>
      <p:sp>
        <p:nvSpPr>
          <p:cNvPr id="7" name="Text 4"/>
          <p:cNvSpPr/>
          <p:nvPr/>
        </p:nvSpPr>
        <p:spPr>
          <a:xfrm>
            <a:off x="1600200" y="1920240"/>
            <a:ext cx="2313432" cy="1417320"/>
          </a:xfrm>
          <a:prstGeom prst="rect">
            <a:avLst/>
          </a:prstGeom>
          <a:noFill/>
          <a:ln/>
        </p:spPr>
        <p:txBody>
          <a:bodyPr wrap="square" lIns="0" tIns="0" rIns="0" bIns="0" rtlCol="0" anchor="ctr"/>
          <a:lstStyle/>
          <a:p>
            <a:pPr indent="0" marL="0">
              <a:buNone/>
            </a:pPr>
            <a:r>
              <a:rPr lang="en-US" sz="1450" b="1" dirty="0">
                <a:solidFill>
                  <a:srgbClr val="172622"/>
                </a:solidFill>
                <a:latin typeface="Calibri" pitchFamily="34" charset="0"/>
                <a:ea typeface="Calibri" pitchFamily="34" charset="-122"/>
                <a:cs typeface="Calibri" pitchFamily="34" charset="-120"/>
              </a:rPr>
              <a:t>Dispatch can't react to weather</a:t>
            </a:r>
            <a:endParaRPr lang="en-US" sz="1450" dirty="0"/>
          </a:p>
        </p:txBody>
      </p:sp>
      <p:sp>
        <p:nvSpPr>
          <p:cNvPr id="8" name="Shape 5"/>
          <p:cNvSpPr/>
          <p:nvPr/>
        </p:nvSpPr>
        <p:spPr>
          <a:xfrm>
            <a:off x="4370832" y="1691640"/>
            <a:ext cx="3502152" cy="1874520"/>
          </a:xfrm>
          <a:prstGeom prst="roundRect">
            <a:avLst>
              <a:gd name="adj" fmla="val 4390"/>
            </a:avLst>
          </a:prstGeom>
          <a:solidFill>
            <a:srgbClr val="F6FAF9"/>
          </a:solidFill>
          <a:ln w="12700">
            <a:solidFill>
              <a:srgbClr val="D8E6E3"/>
            </a:solidFill>
            <a:prstDash val="solid"/>
          </a:ln>
        </p:spPr>
        <p:txBody>
          <a:bodyPr/>
          <a:p/>
        </p:txBody>
      </p:sp>
      <p:sp>
        <p:nvSpPr>
          <p:cNvPr id="9" name="Shape 6"/>
          <p:cNvSpPr/>
          <p:nvPr/>
        </p:nvSpPr>
        <p:spPr>
          <a:xfrm>
            <a:off x="4626864" y="1984248"/>
            <a:ext cx="566928" cy="566928"/>
          </a:xfrm>
          <a:prstGeom prst="ellipse">
            <a:avLst/>
          </a:prstGeom>
          <a:solidFill>
            <a:srgbClr val="129490"/>
          </a:solidFill>
          <a:ln/>
        </p:spPr>
        <p:txBody>
          <a:bodyPr/>
          <a:p/>
        </p:txBody>
      </p:sp>
      <p:pic>
        <p:nvPicPr>
          <p:cNvPr id="10" name="Image 1" descr="/home/claude/icons/forecast.png">    </p:cNvPr>
          <p:cNvPicPr>
            <a:picLocks noChangeAspect="1"/>
          </p:cNvPicPr>
          <p:nvPr/>
        </p:nvPicPr>
        <p:blipFill>
          <a:blip r:embed="rId2"/>
          <a:stretch>
            <a:fillRect/>
          </a:stretch>
        </p:blipFill>
        <p:spPr>
          <a:xfrm>
            <a:off x="4768596" y="2125980"/>
            <a:ext cx="283464" cy="283464"/>
          </a:xfrm>
          <a:prstGeom prst="rect">
            <a:avLst/>
          </a:prstGeom>
        </p:spPr>
      </p:pic>
      <p:sp>
        <p:nvSpPr>
          <p:cNvPr id="11" name="Text 7"/>
          <p:cNvSpPr/>
          <p:nvPr/>
        </p:nvSpPr>
        <p:spPr>
          <a:xfrm>
            <a:off x="5330952" y="1920240"/>
            <a:ext cx="2313432" cy="1417320"/>
          </a:xfrm>
          <a:prstGeom prst="rect">
            <a:avLst/>
          </a:prstGeom>
          <a:noFill/>
          <a:ln/>
        </p:spPr>
        <p:txBody>
          <a:bodyPr wrap="square" lIns="0" tIns="0" rIns="0" bIns="0" rtlCol="0" anchor="ctr"/>
          <a:lstStyle/>
          <a:p>
            <a:pPr indent="0" marL="0">
              <a:buNone/>
            </a:pPr>
            <a:r>
              <a:rPr lang="en-US" sz="1450" b="1" dirty="0">
                <a:solidFill>
                  <a:srgbClr val="172622"/>
                </a:solidFill>
                <a:latin typeface="Calibri" pitchFamily="34" charset="0"/>
                <a:ea typeface="Calibri" pitchFamily="34" charset="-122"/>
                <a:cs typeface="Calibri" pitchFamily="34" charset="-120"/>
              </a:rPr>
              <a:t>Zero forecasting in the loop</a:t>
            </a:r>
            <a:endParaRPr lang="en-US" sz="1450" dirty="0"/>
          </a:p>
        </p:txBody>
      </p:sp>
      <p:sp>
        <p:nvSpPr>
          <p:cNvPr id="12" name="Shape 8"/>
          <p:cNvSpPr/>
          <p:nvPr/>
        </p:nvSpPr>
        <p:spPr>
          <a:xfrm>
            <a:off x="8101584" y="1691640"/>
            <a:ext cx="3502152" cy="1874520"/>
          </a:xfrm>
          <a:prstGeom prst="roundRect">
            <a:avLst>
              <a:gd name="adj" fmla="val 4390"/>
            </a:avLst>
          </a:prstGeom>
          <a:solidFill>
            <a:srgbClr val="F6FAF9"/>
          </a:solidFill>
          <a:ln w="12700">
            <a:solidFill>
              <a:srgbClr val="D8E6E3"/>
            </a:solidFill>
            <a:prstDash val="solid"/>
          </a:ln>
        </p:spPr>
        <p:txBody>
          <a:bodyPr/>
          <a:p/>
        </p:txBody>
      </p:sp>
      <p:sp>
        <p:nvSpPr>
          <p:cNvPr id="13" name="Shape 9"/>
          <p:cNvSpPr/>
          <p:nvPr/>
        </p:nvSpPr>
        <p:spPr>
          <a:xfrm>
            <a:off x="8357616" y="1984248"/>
            <a:ext cx="566928" cy="566928"/>
          </a:xfrm>
          <a:prstGeom prst="ellipse">
            <a:avLst/>
          </a:prstGeom>
          <a:solidFill>
            <a:srgbClr val="0B4F4A"/>
          </a:solidFill>
          <a:ln/>
        </p:spPr>
        <p:txBody>
          <a:bodyPr/>
          <a:p/>
        </p:txBody>
      </p:sp>
      <p:pic>
        <p:nvPicPr>
          <p:cNvPr id="14" name="Image 2" descr="/home/claude/icons/battery.png">    </p:cNvPr>
          <p:cNvPicPr>
            <a:picLocks noChangeAspect="1"/>
          </p:cNvPicPr>
          <p:nvPr/>
        </p:nvPicPr>
        <p:blipFill>
          <a:blip r:embed="rId3"/>
          <a:stretch>
            <a:fillRect/>
          </a:stretch>
        </p:blipFill>
        <p:spPr>
          <a:xfrm>
            <a:off x="8499348" y="2125980"/>
            <a:ext cx="283464" cy="283464"/>
          </a:xfrm>
          <a:prstGeom prst="rect">
            <a:avLst/>
          </a:prstGeom>
        </p:spPr>
      </p:pic>
      <p:sp>
        <p:nvSpPr>
          <p:cNvPr id="15" name="Text 10"/>
          <p:cNvSpPr/>
          <p:nvPr/>
        </p:nvSpPr>
        <p:spPr>
          <a:xfrm>
            <a:off x="9061704" y="1920240"/>
            <a:ext cx="2313432" cy="1417320"/>
          </a:xfrm>
          <a:prstGeom prst="rect">
            <a:avLst/>
          </a:prstGeom>
          <a:noFill/>
          <a:ln/>
        </p:spPr>
        <p:txBody>
          <a:bodyPr wrap="square" lIns="0" tIns="0" rIns="0" bIns="0" rtlCol="0" anchor="ctr"/>
          <a:lstStyle/>
          <a:p>
            <a:pPr indent="0" marL="0">
              <a:buNone/>
            </a:pPr>
            <a:r>
              <a:rPr lang="en-US" sz="1450" b="1" dirty="0">
                <a:solidFill>
                  <a:srgbClr val="172622"/>
                </a:solidFill>
                <a:latin typeface="Calibri" pitchFamily="34" charset="0"/>
                <a:ea typeface="Calibri" pitchFamily="34" charset="-122"/>
                <a:cs typeface="Calibri" pitchFamily="34" charset="-120"/>
              </a:rPr>
              <a:t>Batteries dying early</a:t>
            </a:r>
            <a:endParaRPr lang="en-US" sz="1450" dirty="0"/>
          </a:p>
        </p:txBody>
      </p:sp>
      <p:sp>
        <p:nvSpPr>
          <p:cNvPr id="16" name="Shape 11"/>
          <p:cNvSpPr/>
          <p:nvPr/>
        </p:nvSpPr>
        <p:spPr>
          <a:xfrm>
            <a:off x="640080" y="3794760"/>
            <a:ext cx="3502152" cy="1874520"/>
          </a:xfrm>
          <a:prstGeom prst="roundRect">
            <a:avLst>
              <a:gd name="adj" fmla="val 4390"/>
            </a:avLst>
          </a:prstGeom>
          <a:solidFill>
            <a:srgbClr val="F6FAF9"/>
          </a:solidFill>
          <a:ln w="12700">
            <a:solidFill>
              <a:srgbClr val="D8E6E3"/>
            </a:solidFill>
            <a:prstDash val="solid"/>
          </a:ln>
        </p:spPr>
        <p:txBody>
          <a:bodyPr/>
          <a:p/>
        </p:txBody>
      </p:sp>
      <p:sp>
        <p:nvSpPr>
          <p:cNvPr id="17" name="Shape 12"/>
          <p:cNvSpPr/>
          <p:nvPr/>
        </p:nvSpPr>
        <p:spPr>
          <a:xfrm>
            <a:off x="896112" y="4087368"/>
            <a:ext cx="566928" cy="566928"/>
          </a:xfrm>
          <a:prstGeom prst="ellipse">
            <a:avLst/>
          </a:prstGeom>
          <a:solidFill>
            <a:srgbClr val="129490"/>
          </a:solidFill>
          <a:ln/>
        </p:spPr>
        <p:txBody>
          <a:bodyPr/>
          <a:p/>
        </p:txBody>
      </p:sp>
      <p:pic>
        <p:nvPicPr>
          <p:cNvPr id="18" name="Image 3" descr="/home/claude/icons/bell.png">    </p:cNvPr>
          <p:cNvPicPr>
            <a:picLocks noChangeAspect="1"/>
          </p:cNvPicPr>
          <p:nvPr/>
        </p:nvPicPr>
        <p:blipFill>
          <a:blip r:embed="rId4"/>
          <a:stretch>
            <a:fillRect/>
          </a:stretch>
        </p:blipFill>
        <p:spPr>
          <a:xfrm>
            <a:off x="1037844" y="4229100"/>
            <a:ext cx="283464" cy="283464"/>
          </a:xfrm>
          <a:prstGeom prst="rect">
            <a:avLst/>
          </a:prstGeom>
        </p:spPr>
      </p:pic>
      <p:sp>
        <p:nvSpPr>
          <p:cNvPr id="19" name="Text 13"/>
          <p:cNvSpPr/>
          <p:nvPr/>
        </p:nvSpPr>
        <p:spPr>
          <a:xfrm>
            <a:off x="1600200" y="4023360"/>
            <a:ext cx="2313432" cy="1417320"/>
          </a:xfrm>
          <a:prstGeom prst="rect">
            <a:avLst/>
          </a:prstGeom>
          <a:noFill/>
          <a:ln/>
        </p:spPr>
        <p:txBody>
          <a:bodyPr wrap="square" lIns="0" tIns="0" rIns="0" bIns="0" rtlCol="0" anchor="ctr"/>
          <a:lstStyle/>
          <a:p>
            <a:pPr indent="0" marL="0">
              <a:buNone/>
            </a:pPr>
            <a:r>
              <a:rPr lang="en-US" sz="1450" b="1" dirty="0">
                <a:solidFill>
                  <a:srgbClr val="172622"/>
                </a:solidFill>
                <a:latin typeface="Calibri" pitchFamily="34" charset="0"/>
                <a:ea typeface="Calibri" pitchFamily="34" charset="-122"/>
                <a:cs typeface="Calibri" pitchFamily="34" charset="-120"/>
              </a:rPr>
              <a:t>Blackouts nobody predicted</a:t>
            </a:r>
            <a:endParaRPr lang="en-US" sz="1450" dirty="0"/>
          </a:p>
        </p:txBody>
      </p:sp>
      <p:sp>
        <p:nvSpPr>
          <p:cNvPr id="20" name="Shape 14"/>
          <p:cNvSpPr/>
          <p:nvPr/>
        </p:nvSpPr>
        <p:spPr>
          <a:xfrm>
            <a:off x="4370832" y="3794760"/>
            <a:ext cx="3502152" cy="1874520"/>
          </a:xfrm>
          <a:prstGeom prst="roundRect">
            <a:avLst>
              <a:gd name="adj" fmla="val 4390"/>
            </a:avLst>
          </a:prstGeom>
          <a:solidFill>
            <a:srgbClr val="F6FAF9"/>
          </a:solidFill>
          <a:ln w="12700">
            <a:solidFill>
              <a:srgbClr val="D8E6E3"/>
            </a:solidFill>
            <a:prstDash val="solid"/>
          </a:ln>
        </p:spPr>
        <p:txBody>
          <a:bodyPr/>
          <a:p/>
        </p:txBody>
      </p:sp>
      <p:sp>
        <p:nvSpPr>
          <p:cNvPr id="21" name="Shape 15"/>
          <p:cNvSpPr/>
          <p:nvPr/>
        </p:nvSpPr>
        <p:spPr>
          <a:xfrm>
            <a:off x="4626864" y="4087368"/>
            <a:ext cx="566928" cy="566928"/>
          </a:xfrm>
          <a:prstGeom prst="ellipse">
            <a:avLst/>
          </a:prstGeom>
          <a:solidFill>
            <a:srgbClr val="0B4F4A"/>
          </a:solidFill>
          <a:ln/>
        </p:spPr>
        <p:txBody>
          <a:bodyPr/>
          <a:p/>
        </p:txBody>
      </p:sp>
      <p:pic>
        <p:nvPicPr>
          <p:cNvPr id="22" name="Image 4" descr="/home/claude/icons/question.png">    </p:cNvPr>
          <p:cNvPicPr>
            <a:picLocks noChangeAspect="1"/>
          </p:cNvPicPr>
          <p:nvPr/>
        </p:nvPicPr>
        <p:blipFill>
          <a:blip r:embed="rId5"/>
          <a:stretch>
            <a:fillRect/>
          </a:stretch>
        </p:blipFill>
        <p:spPr>
          <a:xfrm>
            <a:off x="4768596" y="4229100"/>
            <a:ext cx="283464" cy="283464"/>
          </a:xfrm>
          <a:prstGeom prst="rect">
            <a:avLst/>
          </a:prstGeom>
        </p:spPr>
      </p:pic>
      <p:sp>
        <p:nvSpPr>
          <p:cNvPr id="23" name="Text 16"/>
          <p:cNvSpPr/>
          <p:nvPr/>
        </p:nvSpPr>
        <p:spPr>
          <a:xfrm>
            <a:off x="5330952" y="4023360"/>
            <a:ext cx="2313432" cy="1417320"/>
          </a:xfrm>
          <a:prstGeom prst="rect">
            <a:avLst/>
          </a:prstGeom>
          <a:noFill/>
          <a:ln/>
        </p:spPr>
        <p:txBody>
          <a:bodyPr wrap="square" lIns="0" tIns="0" rIns="0" bIns="0" rtlCol="0" anchor="ctr"/>
          <a:lstStyle/>
          <a:p>
            <a:pPr indent="0" marL="0">
              <a:buNone/>
            </a:pPr>
            <a:r>
              <a:rPr lang="en-US" sz="1450" b="1" dirty="0">
                <a:solidFill>
                  <a:srgbClr val="172622"/>
                </a:solidFill>
                <a:latin typeface="Calibri" pitchFamily="34" charset="0"/>
                <a:ea typeface="Calibri" pitchFamily="34" charset="-122"/>
                <a:cs typeface="Calibri" pitchFamily="34" charset="-120"/>
              </a:rPr>
              <a:t>Operators who don't trust a black box</a:t>
            </a:r>
            <a:endParaRPr lang="en-US" sz="1450" dirty="0"/>
          </a:p>
        </p:txBody>
      </p:sp>
      <p:sp>
        <p:nvSpPr>
          <p:cNvPr id="24" name="Shape 17"/>
          <p:cNvSpPr/>
          <p:nvPr/>
        </p:nvSpPr>
        <p:spPr>
          <a:xfrm>
            <a:off x="8101584" y="3794760"/>
            <a:ext cx="3502152" cy="1874520"/>
          </a:xfrm>
          <a:prstGeom prst="roundRect">
            <a:avLst>
              <a:gd name="adj" fmla="val 4390"/>
            </a:avLst>
          </a:prstGeom>
          <a:solidFill>
            <a:srgbClr val="F6FAF9"/>
          </a:solidFill>
          <a:ln w="12700">
            <a:solidFill>
              <a:srgbClr val="D8E6E3"/>
            </a:solidFill>
            <a:prstDash val="solid"/>
          </a:ln>
        </p:spPr>
        <p:txBody>
          <a:bodyPr/>
          <a:p/>
        </p:txBody>
      </p:sp>
      <p:sp>
        <p:nvSpPr>
          <p:cNvPr id="25" name="Shape 18"/>
          <p:cNvSpPr/>
          <p:nvPr/>
        </p:nvSpPr>
        <p:spPr>
          <a:xfrm>
            <a:off x="8357616" y="4087368"/>
            <a:ext cx="566928" cy="566928"/>
          </a:xfrm>
          <a:prstGeom prst="ellipse">
            <a:avLst/>
          </a:prstGeom>
          <a:solidFill>
            <a:srgbClr val="129490"/>
          </a:solidFill>
          <a:ln/>
        </p:spPr>
        <p:txBody>
          <a:bodyPr/>
          <a:p/>
        </p:txBody>
      </p:sp>
      <p:pic>
        <p:nvPicPr>
          <p:cNvPr id="26" name="Image 5" descr="/home/claude/icons/wifi.png">    </p:cNvPr>
          <p:cNvPicPr>
            <a:picLocks noChangeAspect="1"/>
          </p:cNvPicPr>
          <p:nvPr/>
        </p:nvPicPr>
        <p:blipFill>
          <a:blip r:embed="rId6"/>
          <a:stretch>
            <a:fillRect/>
          </a:stretch>
        </p:blipFill>
        <p:spPr>
          <a:xfrm>
            <a:off x="8499348" y="4229100"/>
            <a:ext cx="283464" cy="283464"/>
          </a:xfrm>
          <a:prstGeom prst="rect">
            <a:avLst/>
          </a:prstGeom>
        </p:spPr>
      </p:pic>
      <p:sp>
        <p:nvSpPr>
          <p:cNvPr id="27" name="Text 19"/>
          <p:cNvSpPr/>
          <p:nvPr/>
        </p:nvSpPr>
        <p:spPr>
          <a:xfrm>
            <a:off x="9061704" y="4023360"/>
            <a:ext cx="2313432" cy="1417320"/>
          </a:xfrm>
          <a:prstGeom prst="rect">
            <a:avLst/>
          </a:prstGeom>
          <a:noFill/>
          <a:ln/>
        </p:spPr>
        <p:txBody>
          <a:bodyPr wrap="square" lIns="0" tIns="0" rIns="0" bIns="0" rtlCol="0" anchor="ctr"/>
          <a:lstStyle/>
          <a:p>
            <a:pPr indent="0" marL="0">
              <a:buNone/>
            </a:pPr>
            <a:r>
              <a:rPr lang="en-US" sz="1450" b="1" dirty="0">
                <a:solidFill>
                  <a:srgbClr val="172622"/>
                </a:solidFill>
                <a:latin typeface="Calibri" pitchFamily="34" charset="0"/>
                <a:ea typeface="Calibri" pitchFamily="34" charset="-122"/>
                <a:cs typeface="Calibri" pitchFamily="34" charset="-120"/>
              </a:rPr>
              <a:t>Dashboards useless without signal</a:t>
            </a:r>
            <a:endParaRPr lang="en-US" sz="1450" dirty="0"/>
          </a:p>
        </p:txBody>
      </p:sp>
      <p:sp>
        <p:nvSpPr>
          <p:cNvPr id="28" name="Text 20"/>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29" name="Text 21"/>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04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04 · PROJECT OBJECTIVES</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Integrated Systems Bridging Infrastructure and Intelligent Control</a:t>
            </a:r>
            <a:endParaRPr lang="en-US" sz="3200" dirty="0"/>
          </a:p>
        </p:txBody>
      </p:sp>
      <p:sp>
        <p:nvSpPr>
          <p:cNvPr id="4" name="Shape 2"/>
          <p:cNvSpPr/>
          <p:nvPr/>
        </p:nvSpPr>
        <p:spPr>
          <a:xfrm>
            <a:off x="640080" y="1600200"/>
            <a:ext cx="566928" cy="566928"/>
          </a:xfrm>
          <a:prstGeom prst="ellipse">
            <a:avLst/>
          </a:prstGeom>
          <a:solidFill>
            <a:srgbClr val="0B4F4A"/>
          </a:solidFill>
          <a:ln/>
        </p:spPr>
        <p:txBody>
          <a:bodyPr/>
          <a:p/>
        </p:txBody>
      </p:sp>
      <p:pic>
        <p:nvPicPr>
          <p:cNvPr id="5" name="Image 0" descr="/home/claude/icons/forecast.png">    </p:cNvPr>
          <p:cNvPicPr>
            <a:picLocks noChangeAspect="1"/>
          </p:cNvPicPr>
          <p:nvPr/>
        </p:nvPicPr>
        <p:blipFill>
          <a:blip r:embed="rId1"/>
          <a:stretch>
            <a:fillRect/>
          </a:stretch>
        </p:blipFill>
        <p:spPr>
          <a:xfrm>
            <a:off x="781812" y="1741932"/>
            <a:ext cx="283464" cy="283464"/>
          </a:xfrm>
          <a:prstGeom prst="rect">
            <a:avLst/>
          </a:prstGeom>
        </p:spPr>
      </p:pic>
      <p:sp>
        <p:nvSpPr>
          <p:cNvPr id="6" name="Text 3"/>
          <p:cNvSpPr/>
          <p:nvPr/>
        </p:nvSpPr>
        <p:spPr>
          <a:xfrm>
            <a:off x="640080" y="1472184"/>
            <a:ext cx="566928" cy="274320"/>
          </a:xfrm>
          <a:prstGeom prst="rect">
            <a:avLst/>
          </a:prstGeom>
          <a:noFill/>
          <a:ln/>
        </p:spPr>
        <p:txBody>
          <a:bodyPr wrap="square" lIns="0" tIns="0" rIns="0" bIns="0" rtlCol="0" anchor="ctr"/>
          <a:lstStyle/>
          <a:p>
            <a:pPr algn="ctr" indent="0" marL="0">
              <a:buNone/>
            </a:pPr>
            <a:r>
              <a:rPr lang="en-US" sz="1100" b="1" dirty="0">
                <a:solidFill>
                  <a:srgbClr val="E8A33D"/>
                </a:solidFill>
                <a:latin typeface="Cambria" pitchFamily="34" charset="0"/>
                <a:ea typeface="Cambria" pitchFamily="34" charset="-122"/>
                <a:cs typeface="Cambria" pitchFamily="34" charset="-120"/>
              </a:rPr>
              <a:t>1</a:t>
            </a:r>
            <a:endParaRPr lang="en-US" sz="1100" dirty="0"/>
          </a:p>
        </p:txBody>
      </p:sp>
      <p:sp>
        <p:nvSpPr>
          <p:cNvPr id="7" name="Text 4"/>
          <p:cNvSpPr/>
          <p:nvPr/>
        </p:nvSpPr>
        <p:spPr>
          <a:xfrm>
            <a:off x="1417320" y="1600200"/>
            <a:ext cx="9875520" cy="640080"/>
          </a:xfrm>
          <a:prstGeom prst="rect">
            <a:avLst/>
          </a:prstGeom>
          <a:noFill/>
          <a:ln/>
        </p:spPr>
        <p:txBody>
          <a:bodyPr wrap="square" lIns="0" tIns="0" rIns="0" bIns="0" rtlCol="0" anchor="ctr"/>
          <a:lstStyle/>
          <a:p>
            <a:pPr indent="0" marL="0">
              <a:buNone/>
            </a:pPr>
            <a:r>
              <a:rPr lang="en-US" sz="1550" b="1" dirty="0">
                <a:solidFill>
                  <a:srgbClr val="172622"/>
                </a:solidFill>
                <a:latin typeface="Calibri" pitchFamily="34" charset="0"/>
                <a:ea typeface="Calibri" pitchFamily="34" charset="-122"/>
                <a:cs typeface="Calibri" pitchFamily="34" charset="-120"/>
              </a:rPr>
              <a:t>Forecasting layer  </a:t>
            </a:r>
            <a:pPr indent="0" marL="0">
              <a:buNone/>
            </a:pPr>
            <a:r>
              <a:rPr lang="en-US" sz="1550" dirty="0">
                <a:solidFill>
                  <a:srgbClr val="5C6E6A"/>
                </a:solidFill>
                <a:latin typeface="Calibri" pitchFamily="34" charset="0"/>
                <a:ea typeface="Calibri" pitchFamily="34" charset="-122"/>
                <a:cs typeface="Calibri" pitchFamily="34" charset="-120"/>
              </a:rPr>
              <a:t>for generation and demand</a:t>
            </a:r>
            <a:endParaRPr lang="en-US" sz="1550" dirty="0"/>
          </a:p>
        </p:txBody>
      </p:sp>
      <p:sp>
        <p:nvSpPr>
          <p:cNvPr id="8" name="Shape 5"/>
          <p:cNvSpPr/>
          <p:nvPr/>
        </p:nvSpPr>
        <p:spPr>
          <a:xfrm>
            <a:off x="640080" y="2386584"/>
            <a:ext cx="566928" cy="566928"/>
          </a:xfrm>
          <a:prstGeom prst="ellipse">
            <a:avLst/>
          </a:prstGeom>
          <a:solidFill>
            <a:srgbClr val="0B4F4A"/>
          </a:solidFill>
          <a:ln/>
        </p:spPr>
        <p:txBody>
          <a:bodyPr/>
          <a:p/>
        </p:txBody>
      </p:sp>
      <p:pic>
        <p:nvPicPr>
          <p:cNvPr id="9" name="Image 1" descr="/home/claude/icons/cogs.png">    </p:cNvPr>
          <p:cNvPicPr>
            <a:picLocks noChangeAspect="1"/>
          </p:cNvPicPr>
          <p:nvPr/>
        </p:nvPicPr>
        <p:blipFill>
          <a:blip r:embed="rId2"/>
          <a:stretch>
            <a:fillRect/>
          </a:stretch>
        </p:blipFill>
        <p:spPr>
          <a:xfrm>
            <a:off x="781812" y="2528316"/>
            <a:ext cx="283464" cy="283464"/>
          </a:xfrm>
          <a:prstGeom prst="rect">
            <a:avLst/>
          </a:prstGeom>
        </p:spPr>
      </p:pic>
      <p:sp>
        <p:nvSpPr>
          <p:cNvPr id="10" name="Text 6"/>
          <p:cNvSpPr/>
          <p:nvPr/>
        </p:nvSpPr>
        <p:spPr>
          <a:xfrm>
            <a:off x="640080" y="2258568"/>
            <a:ext cx="566928" cy="274320"/>
          </a:xfrm>
          <a:prstGeom prst="rect">
            <a:avLst/>
          </a:prstGeom>
          <a:noFill/>
          <a:ln/>
        </p:spPr>
        <p:txBody>
          <a:bodyPr wrap="square" lIns="0" tIns="0" rIns="0" bIns="0" rtlCol="0" anchor="ctr"/>
          <a:lstStyle/>
          <a:p>
            <a:pPr algn="ctr" indent="0" marL="0">
              <a:buNone/>
            </a:pPr>
            <a:r>
              <a:rPr lang="en-US" sz="1100" b="1" dirty="0">
                <a:solidFill>
                  <a:srgbClr val="E8A33D"/>
                </a:solidFill>
                <a:latin typeface="Cambria" pitchFamily="34" charset="0"/>
                <a:ea typeface="Cambria" pitchFamily="34" charset="-122"/>
                <a:cs typeface="Cambria" pitchFamily="34" charset="-120"/>
              </a:rPr>
              <a:t>2</a:t>
            </a:r>
            <a:endParaRPr lang="en-US" sz="1100" dirty="0"/>
          </a:p>
        </p:txBody>
      </p:sp>
      <p:sp>
        <p:nvSpPr>
          <p:cNvPr id="11" name="Text 7"/>
          <p:cNvSpPr/>
          <p:nvPr/>
        </p:nvSpPr>
        <p:spPr>
          <a:xfrm>
            <a:off x="1417320" y="2386584"/>
            <a:ext cx="9875520" cy="640080"/>
          </a:xfrm>
          <a:prstGeom prst="rect">
            <a:avLst/>
          </a:prstGeom>
          <a:noFill/>
          <a:ln/>
        </p:spPr>
        <p:txBody>
          <a:bodyPr wrap="square" lIns="0" tIns="0" rIns="0" bIns="0" rtlCol="0" anchor="ctr"/>
          <a:lstStyle/>
          <a:p>
            <a:pPr indent="0" marL="0">
              <a:buNone/>
            </a:pPr>
            <a:r>
              <a:rPr lang="en-US" sz="1550" b="1" dirty="0">
                <a:solidFill>
                  <a:srgbClr val="172622"/>
                </a:solidFill>
                <a:latin typeface="Calibri" pitchFamily="34" charset="0"/>
                <a:ea typeface="Calibri" pitchFamily="34" charset="-122"/>
                <a:cs typeface="Calibri" pitchFamily="34" charset="-120"/>
              </a:rPr>
              <a:t>Re-solving dispatch engine  </a:t>
            </a:r>
            <a:pPr indent="0" marL="0">
              <a:buNone/>
            </a:pPr>
            <a:r>
              <a:rPr lang="en-US" sz="1550" dirty="0">
                <a:solidFill>
                  <a:srgbClr val="5C6E6A"/>
                </a:solidFill>
                <a:latin typeface="Calibri" pitchFamily="34" charset="0"/>
                <a:ea typeface="Calibri" pitchFamily="34" charset="-122"/>
                <a:cs typeface="Calibri" pitchFamily="34" charset="-120"/>
              </a:rPr>
              <a:t>every fifteen to sixty minutes</a:t>
            </a:r>
            <a:endParaRPr lang="en-US" sz="1550" dirty="0"/>
          </a:p>
        </p:txBody>
      </p:sp>
      <p:sp>
        <p:nvSpPr>
          <p:cNvPr id="12" name="Shape 8"/>
          <p:cNvSpPr/>
          <p:nvPr/>
        </p:nvSpPr>
        <p:spPr>
          <a:xfrm>
            <a:off x="640080" y="3172968"/>
            <a:ext cx="566928" cy="566928"/>
          </a:xfrm>
          <a:prstGeom prst="ellipse">
            <a:avLst/>
          </a:prstGeom>
          <a:solidFill>
            <a:srgbClr val="0B4F4A"/>
          </a:solidFill>
          <a:ln/>
        </p:spPr>
        <p:txBody>
          <a:bodyPr/>
          <a:p/>
        </p:txBody>
      </p:sp>
      <p:pic>
        <p:nvPicPr>
          <p:cNvPr id="13" name="Image 2" descr="/home/claude/icons/battery.png">    </p:cNvPr>
          <p:cNvPicPr>
            <a:picLocks noChangeAspect="1"/>
          </p:cNvPicPr>
          <p:nvPr/>
        </p:nvPicPr>
        <p:blipFill>
          <a:blip r:embed="rId3"/>
          <a:stretch>
            <a:fillRect/>
          </a:stretch>
        </p:blipFill>
        <p:spPr>
          <a:xfrm>
            <a:off x="781812" y="3314700"/>
            <a:ext cx="283464" cy="283464"/>
          </a:xfrm>
          <a:prstGeom prst="rect">
            <a:avLst/>
          </a:prstGeom>
        </p:spPr>
      </p:pic>
      <p:sp>
        <p:nvSpPr>
          <p:cNvPr id="14" name="Text 9"/>
          <p:cNvSpPr/>
          <p:nvPr/>
        </p:nvSpPr>
        <p:spPr>
          <a:xfrm>
            <a:off x="640080" y="3044952"/>
            <a:ext cx="566928" cy="274320"/>
          </a:xfrm>
          <a:prstGeom prst="rect">
            <a:avLst/>
          </a:prstGeom>
          <a:noFill/>
          <a:ln/>
        </p:spPr>
        <p:txBody>
          <a:bodyPr wrap="square" lIns="0" tIns="0" rIns="0" bIns="0" rtlCol="0" anchor="ctr"/>
          <a:lstStyle/>
          <a:p>
            <a:pPr algn="ctr" indent="0" marL="0">
              <a:buNone/>
            </a:pPr>
            <a:r>
              <a:rPr lang="en-US" sz="1100" b="1" dirty="0">
                <a:solidFill>
                  <a:srgbClr val="E8A33D"/>
                </a:solidFill>
                <a:latin typeface="Cambria" pitchFamily="34" charset="0"/>
                <a:ea typeface="Cambria" pitchFamily="34" charset="-122"/>
                <a:cs typeface="Cambria" pitchFamily="34" charset="-120"/>
              </a:rPr>
              <a:t>3</a:t>
            </a:r>
            <a:endParaRPr lang="en-US" sz="1100" dirty="0"/>
          </a:p>
        </p:txBody>
      </p:sp>
      <p:sp>
        <p:nvSpPr>
          <p:cNvPr id="15" name="Text 10"/>
          <p:cNvSpPr/>
          <p:nvPr/>
        </p:nvSpPr>
        <p:spPr>
          <a:xfrm>
            <a:off x="1417320" y="3172968"/>
            <a:ext cx="9875520" cy="640080"/>
          </a:xfrm>
          <a:prstGeom prst="rect">
            <a:avLst/>
          </a:prstGeom>
          <a:noFill/>
          <a:ln/>
        </p:spPr>
        <p:txBody>
          <a:bodyPr wrap="square" lIns="0" tIns="0" rIns="0" bIns="0" rtlCol="0" anchor="ctr"/>
          <a:lstStyle/>
          <a:p>
            <a:pPr indent="0" marL="0">
              <a:buNone/>
            </a:pPr>
            <a:r>
              <a:rPr lang="en-US" sz="1550" b="1" dirty="0">
                <a:solidFill>
                  <a:srgbClr val="172622"/>
                </a:solidFill>
                <a:latin typeface="Calibri" pitchFamily="34" charset="0"/>
                <a:ea typeface="Calibri" pitchFamily="34" charset="-122"/>
                <a:cs typeface="Calibri" pitchFamily="34" charset="-120"/>
              </a:rPr>
              <a:t>Battery cost model  </a:t>
            </a:r>
            <a:pPr indent="0" marL="0">
              <a:buNone/>
            </a:pPr>
            <a:r>
              <a:rPr lang="en-US" sz="1550" dirty="0">
                <a:solidFill>
                  <a:srgbClr val="5C6E6A"/>
                </a:solidFill>
                <a:latin typeface="Calibri" pitchFamily="34" charset="0"/>
                <a:ea typeface="Calibri" pitchFamily="34" charset="-122"/>
                <a:cs typeface="Calibri" pitchFamily="34" charset="-120"/>
              </a:rPr>
              <a:t>accounts for long-term wear, not just today's bill</a:t>
            </a:r>
            <a:endParaRPr lang="en-US" sz="1550" dirty="0"/>
          </a:p>
        </p:txBody>
      </p:sp>
      <p:sp>
        <p:nvSpPr>
          <p:cNvPr id="16" name="Shape 11"/>
          <p:cNvSpPr/>
          <p:nvPr/>
        </p:nvSpPr>
        <p:spPr>
          <a:xfrm>
            <a:off x="640080" y="3959352"/>
            <a:ext cx="566928" cy="566928"/>
          </a:xfrm>
          <a:prstGeom prst="ellipse">
            <a:avLst/>
          </a:prstGeom>
          <a:solidFill>
            <a:srgbClr val="0B4F4A"/>
          </a:solidFill>
          <a:ln/>
        </p:spPr>
        <p:txBody>
          <a:bodyPr/>
          <a:p/>
        </p:txBody>
      </p:sp>
      <p:pic>
        <p:nvPicPr>
          <p:cNvPr id="17" name="Image 3" descr="/home/claude/icons/bell.png">    </p:cNvPr>
          <p:cNvPicPr>
            <a:picLocks noChangeAspect="1"/>
          </p:cNvPicPr>
          <p:nvPr/>
        </p:nvPicPr>
        <p:blipFill>
          <a:blip r:embed="rId4"/>
          <a:stretch>
            <a:fillRect/>
          </a:stretch>
        </p:blipFill>
        <p:spPr>
          <a:xfrm>
            <a:off x="781812" y="4101084"/>
            <a:ext cx="283464" cy="283464"/>
          </a:xfrm>
          <a:prstGeom prst="rect">
            <a:avLst/>
          </a:prstGeom>
        </p:spPr>
      </p:pic>
      <p:sp>
        <p:nvSpPr>
          <p:cNvPr id="18" name="Text 12"/>
          <p:cNvSpPr/>
          <p:nvPr/>
        </p:nvSpPr>
        <p:spPr>
          <a:xfrm>
            <a:off x="640080" y="3831336"/>
            <a:ext cx="566928" cy="274320"/>
          </a:xfrm>
          <a:prstGeom prst="rect">
            <a:avLst/>
          </a:prstGeom>
          <a:noFill/>
          <a:ln/>
        </p:spPr>
        <p:txBody>
          <a:bodyPr wrap="square" lIns="0" tIns="0" rIns="0" bIns="0" rtlCol="0" anchor="ctr"/>
          <a:lstStyle/>
          <a:p>
            <a:pPr algn="ctr" indent="0" marL="0">
              <a:buNone/>
            </a:pPr>
            <a:r>
              <a:rPr lang="en-US" sz="1100" b="1" dirty="0">
                <a:solidFill>
                  <a:srgbClr val="E8A33D"/>
                </a:solidFill>
                <a:latin typeface="Cambria" pitchFamily="34" charset="0"/>
                <a:ea typeface="Cambria" pitchFamily="34" charset="-122"/>
                <a:cs typeface="Cambria" pitchFamily="34" charset="-120"/>
              </a:rPr>
              <a:t>4</a:t>
            </a:r>
            <a:endParaRPr lang="en-US" sz="1100" dirty="0"/>
          </a:p>
        </p:txBody>
      </p:sp>
      <p:sp>
        <p:nvSpPr>
          <p:cNvPr id="19" name="Text 13"/>
          <p:cNvSpPr/>
          <p:nvPr/>
        </p:nvSpPr>
        <p:spPr>
          <a:xfrm>
            <a:off x="1417320" y="3959352"/>
            <a:ext cx="9875520" cy="640080"/>
          </a:xfrm>
          <a:prstGeom prst="rect">
            <a:avLst/>
          </a:prstGeom>
          <a:noFill/>
          <a:ln/>
        </p:spPr>
        <p:txBody>
          <a:bodyPr wrap="square" lIns="0" tIns="0" rIns="0" bIns="0" rtlCol="0" anchor="ctr"/>
          <a:lstStyle/>
          <a:p>
            <a:pPr indent="0" marL="0">
              <a:buNone/>
            </a:pPr>
            <a:r>
              <a:rPr lang="en-US" sz="1550" b="1" dirty="0">
                <a:solidFill>
                  <a:srgbClr val="172622"/>
                </a:solidFill>
                <a:latin typeface="Calibri" pitchFamily="34" charset="0"/>
                <a:ea typeface="Calibri" pitchFamily="34" charset="-122"/>
                <a:cs typeface="Calibri" pitchFamily="34" charset="-120"/>
              </a:rPr>
              <a:t>Blackout predictor  </a:t>
            </a:r>
            <a:pPr indent="0" marL="0">
              <a:buNone/>
            </a:pPr>
            <a:r>
              <a:rPr lang="en-US" sz="1550" dirty="0">
                <a:solidFill>
                  <a:srgbClr val="5C6E6A"/>
                </a:solidFill>
                <a:latin typeface="Calibri" pitchFamily="34" charset="0"/>
                <a:ea typeface="Calibri" pitchFamily="34" charset="-122"/>
                <a:cs typeface="Calibri" pitchFamily="34" charset="-120"/>
              </a:rPr>
              <a:t>looks ahead instead of reacting</a:t>
            </a:r>
            <a:endParaRPr lang="en-US" sz="1550" dirty="0"/>
          </a:p>
        </p:txBody>
      </p:sp>
      <p:sp>
        <p:nvSpPr>
          <p:cNvPr id="20" name="Shape 14"/>
          <p:cNvSpPr/>
          <p:nvPr/>
        </p:nvSpPr>
        <p:spPr>
          <a:xfrm>
            <a:off x="640080" y="4745736"/>
            <a:ext cx="566928" cy="566928"/>
          </a:xfrm>
          <a:prstGeom prst="ellipse">
            <a:avLst/>
          </a:prstGeom>
          <a:solidFill>
            <a:srgbClr val="0B4F4A"/>
          </a:solidFill>
          <a:ln/>
        </p:spPr>
        <p:txBody>
          <a:bodyPr/>
          <a:p/>
        </p:txBody>
      </p:sp>
      <p:pic>
        <p:nvPicPr>
          <p:cNvPr id="21" name="Image 4" descr="/home/claude/icons/bulb.png">    </p:cNvPr>
          <p:cNvPicPr>
            <a:picLocks noChangeAspect="1"/>
          </p:cNvPicPr>
          <p:nvPr/>
        </p:nvPicPr>
        <p:blipFill>
          <a:blip r:embed="rId5"/>
          <a:stretch>
            <a:fillRect/>
          </a:stretch>
        </p:blipFill>
        <p:spPr>
          <a:xfrm>
            <a:off x="781812" y="4887468"/>
            <a:ext cx="283464" cy="283464"/>
          </a:xfrm>
          <a:prstGeom prst="rect">
            <a:avLst/>
          </a:prstGeom>
        </p:spPr>
      </p:pic>
      <p:sp>
        <p:nvSpPr>
          <p:cNvPr id="22" name="Text 15"/>
          <p:cNvSpPr/>
          <p:nvPr/>
        </p:nvSpPr>
        <p:spPr>
          <a:xfrm>
            <a:off x="640080" y="4617720"/>
            <a:ext cx="566928" cy="274320"/>
          </a:xfrm>
          <a:prstGeom prst="rect">
            <a:avLst/>
          </a:prstGeom>
          <a:noFill/>
          <a:ln/>
        </p:spPr>
        <p:txBody>
          <a:bodyPr wrap="square" lIns="0" tIns="0" rIns="0" bIns="0" rtlCol="0" anchor="ctr"/>
          <a:lstStyle/>
          <a:p>
            <a:pPr algn="ctr" indent="0" marL="0">
              <a:buNone/>
            </a:pPr>
            <a:r>
              <a:rPr lang="en-US" sz="1100" b="1" dirty="0">
                <a:solidFill>
                  <a:srgbClr val="E8A33D"/>
                </a:solidFill>
                <a:latin typeface="Cambria" pitchFamily="34" charset="0"/>
                <a:ea typeface="Cambria" pitchFamily="34" charset="-122"/>
                <a:cs typeface="Cambria" pitchFamily="34" charset="-120"/>
              </a:rPr>
              <a:t>5</a:t>
            </a:r>
            <a:endParaRPr lang="en-US" sz="1100" dirty="0"/>
          </a:p>
        </p:txBody>
      </p:sp>
      <p:sp>
        <p:nvSpPr>
          <p:cNvPr id="23" name="Text 16"/>
          <p:cNvSpPr/>
          <p:nvPr/>
        </p:nvSpPr>
        <p:spPr>
          <a:xfrm>
            <a:off x="1417320" y="4745736"/>
            <a:ext cx="9875520" cy="640080"/>
          </a:xfrm>
          <a:prstGeom prst="rect">
            <a:avLst/>
          </a:prstGeom>
          <a:noFill/>
          <a:ln/>
        </p:spPr>
        <p:txBody>
          <a:bodyPr wrap="square" lIns="0" tIns="0" rIns="0" bIns="0" rtlCol="0" anchor="ctr"/>
          <a:lstStyle/>
          <a:p>
            <a:pPr indent="0" marL="0">
              <a:buNone/>
            </a:pPr>
            <a:r>
              <a:rPr lang="en-US" sz="1550" b="1" dirty="0">
                <a:solidFill>
                  <a:srgbClr val="172622"/>
                </a:solidFill>
                <a:latin typeface="Calibri" pitchFamily="34" charset="0"/>
                <a:ea typeface="Calibri" pitchFamily="34" charset="-122"/>
                <a:cs typeface="Calibri" pitchFamily="34" charset="-120"/>
              </a:rPr>
              <a:t>An explanation on every decision  </a:t>
            </a:r>
            <a:pPr indent="0" marL="0">
              <a:buNone/>
            </a:pPr>
            <a:r>
              <a:rPr lang="en-US" sz="1550" dirty="0">
                <a:solidFill>
                  <a:srgbClr val="5C6E6A"/>
                </a:solidFill>
                <a:latin typeface="Calibri" pitchFamily="34" charset="0"/>
                <a:ea typeface="Calibri" pitchFamily="34" charset="-122"/>
                <a:cs typeface="Calibri" pitchFamily="34" charset="-120"/>
              </a:rPr>
              <a:t>attached at the source, not bolted on</a:t>
            </a:r>
            <a:endParaRPr lang="en-US" sz="1550" dirty="0"/>
          </a:p>
        </p:txBody>
      </p:sp>
      <p:sp>
        <p:nvSpPr>
          <p:cNvPr id="24" name="Shape 17"/>
          <p:cNvSpPr/>
          <p:nvPr/>
        </p:nvSpPr>
        <p:spPr>
          <a:xfrm>
            <a:off x="640080" y="5577840"/>
            <a:ext cx="10881360" cy="658368"/>
          </a:xfrm>
          <a:prstGeom prst="roundRect">
            <a:avLst>
              <a:gd name="adj" fmla="val 11111"/>
            </a:avLst>
          </a:prstGeom>
          <a:solidFill>
            <a:srgbClr val="E7F2F0"/>
          </a:solidFill>
          <a:ln/>
        </p:spPr>
        <p:txBody>
          <a:bodyPr/>
          <a:p/>
        </p:txBody>
      </p:sp>
      <p:sp>
        <p:nvSpPr>
          <p:cNvPr id="25" name="Text 18"/>
          <p:cNvSpPr/>
          <p:nvPr/>
        </p:nvSpPr>
        <p:spPr>
          <a:xfrm>
            <a:off x="914400" y="5577840"/>
            <a:ext cx="10332720" cy="658368"/>
          </a:xfrm>
          <a:prstGeom prst="rect">
            <a:avLst/>
          </a:prstGeom>
          <a:noFill/>
          <a:ln/>
        </p:spPr>
        <p:txBody>
          <a:bodyPr wrap="square" lIns="0" tIns="0" rIns="0" bIns="0" rtlCol="0" anchor="ctr"/>
          <a:lstStyle/>
          <a:p>
            <a:pPr indent="0" marL="0">
              <a:buNone/>
            </a:pPr>
            <a:r>
              <a:rPr lang="en-US" sz="1350" b="1" dirty="0">
                <a:solidFill>
                  <a:srgbClr val="0B4F4A"/>
                </a:solidFill>
                <a:latin typeface="Calibri" pitchFamily="34" charset="0"/>
                <a:ea typeface="Calibri" pitchFamily="34" charset="-122"/>
                <a:cs typeface="Calibri" pitchFamily="34" charset="-120"/>
              </a:rPr>
              <a:t>Stretch goal:  </a:t>
            </a:r>
            <a:pPr indent="0" marL="0">
              <a:buNone/>
            </a:pPr>
            <a:r>
              <a:rPr lang="en-US" sz="1350" dirty="0">
                <a:solidFill>
                  <a:srgbClr val="172622"/>
                </a:solidFill>
                <a:latin typeface="Calibri" pitchFamily="34" charset="0"/>
                <a:ea typeface="Calibri" pitchFamily="34" charset="-122"/>
                <a:cs typeface="Calibri" pitchFamily="34" charset="-120"/>
              </a:rPr>
              <a:t>shiftable loads — nudging irrigation or cold storage into the hours when solar's cheap.</a:t>
            </a:r>
            <a:endParaRPr lang="en-US" sz="1350" dirty="0"/>
          </a:p>
        </p:txBody>
      </p:sp>
      <p:sp>
        <p:nvSpPr>
          <p:cNvPr id="26" name="Text 19"/>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27" name="Text 20"/>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05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05 · PROJECT SCOPE</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Development Scope: Intelligent Dispatch and Decision Support</a:t>
            </a:r>
            <a:endParaRPr lang="en-US" sz="3200" dirty="0"/>
          </a:p>
        </p:txBody>
      </p:sp>
      <p:sp>
        <p:nvSpPr>
          <p:cNvPr id="4" name="Shape 2"/>
          <p:cNvSpPr/>
          <p:nvPr/>
        </p:nvSpPr>
        <p:spPr>
          <a:xfrm>
            <a:off x="640080" y="1691640"/>
            <a:ext cx="5257800" cy="4160520"/>
          </a:xfrm>
          <a:prstGeom prst="roundRect">
            <a:avLst>
              <a:gd name="adj" fmla="val 2198"/>
            </a:avLst>
          </a:prstGeom>
          <a:solidFill>
            <a:srgbClr val="E7F2F0"/>
          </a:solidFill>
          <a:ln/>
        </p:spPr>
        <p:txBody>
          <a:bodyPr/>
          <a:p/>
        </p:txBody>
      </p:sp>
      <p:sp>
        <p:nvSpPr>
          <p:cNvPr id="5" name="Text 3"/>
          <p:cNvSpPr/>
          <p:nvPr/>
        </p:nvSpPr>
        <p:spPr>
          <a:xfrm>
            <a:off x="960120" y="1920240"/>
            <a:ext cx="3657600" cy="365760"/>
          </a:xfrm>
          <a:prstGeom prst="rect">
            <a:avLst/>
          </a:prstGeom>
          <a:noFill/>
          <a:ln/>
        </p:spPr>
        <p:txBody>
          <a:bodyPr wrap="square" lIns="0" tIns="0" rIns="0" bIns="0" rtlCol="0" anchor="ctr"/>
          <a:lstStyle/>
          <a:p>
            <a:pPr indent="0" marL="0">
              <a:buNone/>
            </a:pPr>
            <a:r>
              <a:rPr lang="en-US" sz="1300" b="1" spc="150" kern="0" dirty="0">
                <a:solidFill>
                  <a:srgbClr val="0B4F4A"/>
                </a:solidFill>
                <a:latin typeface="Calibri" pitchFamily="34" charset="0"/>
                <a:ea typeface="Calibri" pitchFamily="34" charset="-122"/>
                <a:cs typeface="Calibri" pitchFamily="34" charset="-120"/>
              </a:rPr>
              <a:t>IN SCOPE</a:t>
            </a:r>
            <a:endParaRPr lang="en-US" sz="1300" dirty="0"/>
          </a:p>
        </p:txBody>
      </p:sp>
      <p:sp>
        <p:nvSpPr>
          <p:cNvPr id="6" name="Text 4"/>
          <p:cNvSpPr/>
          <p:nvPr/>
        </p:nvSpPr>
        <p:spPr>
          <a:xfrm>
            <a:off x="960120" y="2377440"/>
            <a:ext cx="4663440" cy="3291840"/>
          </a:xfrm>
          <a:prstGeom prst="rect">
            <a:avLst/>
          </a:prstGeom>
          <a:noFill/>
          <a:ln/>
        </p:spPr>
        <p:txBody>
          <a:bodyPr wrap="square" lIns="0" tIns="0" rIns="0" bIns="0" rtlCol="0" anchor="t"/>
          <a:lstStyle/>
          <a:p>
            <a:pPr marL="254000" indent="-254000">
              <a:spcAft>
                <a:spcPts val="1000"/>
              </a:spcAft>
              <a:buSzPct val="100000"/>
              <a:buChar char="✓"/>
            </a:pPr>
            <a:r>
              <a:rPr lang="en-US" sz="1350" dirty="0">
                <a:solidFill>
                  <a:srgbClr val="172622"/>
                </a:solidFill>
                <a:latin typeface="Calibri" pitchFamily="34" charset="0"/>
                <a:ea typeface="Calibri" pitchFamily="34" charset="-122"/>
                <a:cs typeface="Calibri" pitchFamily="34" charset="-120"/>
              </a:rPr>
              <a:t>Simulated microgrid, optionally fed by a live BMS</a:t>
            </a:r>
            <a:endParaRPr lang="en-US" sz="1350" dirty="0"/>
          </a:p>
          <a:p>
            <a:pPr marL="254000" indent="-254000">
              <a:spcAft>
                <a:spcPts val="1000"/>
              </a:spcAft>
              <a:buSzPct val="100000"/>
              <a:buChar char="✓"/>
            </a:pPr>
            <a:r>
              <a:rPr lang="en-US" sz="1350" dirty="0">
                <a:solidFill>
                  <a:srgbClr val="172622"/>
                </a:solidFill>
                <a:latin typeface="Calibri" pitchFamily="34" charset="0"/>
                <a:ea typeface="Calibri" pitchFamily="34" charset="-122"/>
                <a:cs typeface="Calibri" pitchFamily="34" charset="-120"/>
              </a:rPr>
              <a:t>Rule-based MVP graduating to a full LP / MILP solver</a:t>
            </a:r>
            <a:endParaRPr lang="en-US" sz="1350" dirty="0"/>
          </a:p>
          <a:p>
            <a:pPr marL="254000" indent="-254000">
              <a:spcAft>
                <a:spcPts val="1000"/>
              </a:spcAft>
              <a:buSzPct val="100000"/>
              <a:buChar char="✓"/>
            </a:pPr>
            <a:r>
              <a:rPr lang="en-US" sz="1350" dirty="0">
                <a:solidFill>
                  <a:srgbClr val="172622"/>
                </a:solidFill>
                <a:latin typeface="Calibri" pitchFamily="34" charset="0"/>
                <a:ea typeface="Calibri" pitchFamily="34" charset="-122"/>
                <a:cs typeface="Calibri" pitchFamily="34" charset="-120"/>
              </a:rPr>
              <a:t>State-of-charge tracking</a:t>
            </a:r>
            <a:endParaRPr lang="en-US" sz="1350" dirty="0"/>
          </a:p>
          <a:p>
            <a:pPr marL="254000" indent="-254000">
              <a:spcAft>
                <a:spcPts val="1000"/>
              </a:spcAft>
              <a:buSzPct val="100000"/>
              <a:buChar char="✓"/>
            </a:pPr>
            <a:r>
              <a:rPr lang="en-US" sz="1350" dirty="0">
                <a:solidFill>
                  <a:srgbClr val="172622"/>
                </a:solidFill>
                <a:latin typeface="Calibri" pitchFamily="34" charset="0"/>
                <a:ea typeface="Calibri" pitchFamily="34" charset="-122"/>
                <a:cs typeface="Calibri" pitchFamily="34" charset="-120"/>
              </a:rPr>
              <a:t>Blackout prediction</a:t>
            </a:r>
            <a:endParaRPr lang="en-US" sz="1350" dirty="0"/>
          </a:p>
          <a:p>
            <a:pPr marL="254000" indent="-254000">
              <a:spcAft>
                <a:spcPts val="1000"/>
              </a:spcAft>
              <a:buSzPct val="100000"/>
              <a:buChar char="✓"/>
            </a:pPr>
            <a:r>
              <a:rPr lang="en-US" sz="1350" dirty="0">
                <a:solidFill>
                  <a:srgbClr val="172622"/>
                </a:solidFill>
                <a:latin typeface="Calibri" pitchFamily="34" charset="0"/>
                <a:ea typeface="Calibri" pitchFamily="34" charset="-122"/>
                <a:cs typeface="Calibri" pitchFamily="34" charset="-120"/>
              </a:rPr>
              <a:t>Dashboard + SMS alerts</a:t>
            </a:r>
            <a:endParaRPr lang="en-US" sz="1350" dirty="0"/>
          </a:p>
          <a:p>
            <a:pPr marL="254000" indent="-254000">
              <a:spcAft>
                <a:spcPts val="1000"/>
              </a:spcAft>
              <a:buSzPct val="100000"/>
              <a:buChar char="✓"/>
            </a:pPr>
            <a:r>
              <a:rPr lang="en-US" sz="1350" dirty="0">
                <a:solidFill>
                  <a:srgbClr val="172622"/>
                </a:solidFill>
                <a:latin typeface="Calibri" pitchFamily="34" charset="0"/>
                <a:ea typeface="Calibri" pitchFamily="34" charset="-122"/>
                <a:cs typeface="Calibri" pitchFamily="34" charset="-120"/>
              </a:rPr>
              <a:t>What-if simulator</a:t>
            </a:r>
            <a:endParaRPr lang="en-US" sz="1350" dirty="0"/>
          </a:p>
        </p:txBody>
      </p:sp>
      <p:sp>
        <p:nvSpPr>
          <p:cNvPr id="7" name="Shape 5"/>
          <p:cNvSpPr/>
          <p:nvPr/>
        </p:nvSpPr>
        <p:spPr>
          <a:xfrm>
            <a:off x="6263640" y="1691640"/>
            <a:ext cx="5257800" cy="4160520"/>
          </a:xfrm>
          <a:prstGeom prst="roundRect">
            <a:avLst>
              <a:gd name="adj" fmla="val 2198"/>
            </a:avLst>
          </a:prstGeom>
          <a:solidFill>
            <a:srgbClr val="F6FAF9"/>
          </a:solidFill>
          <a:ln w="12700">
            <a:solidFill>
              <a:srgbClr val="D8E6E3"/>
            </a:solidFill>
            <a:prstDash val="solid"/>
          </a:ln>
        </p:spPr>
        <p:txBody>
          <a:bodyPr/>
          <a:p/>
        </p:txBody>
      </p:sp>
      <p:sp>
        <p:nvSpPr>
          <p:cNvPr id="8" name="Text 6"/>
          <p:cNvSpPr/>
          <p:nvPr/>
        </p:nvSpPr>
        <p:spPr>
          <a:xfrm>
            <a:off x="6583680" y="1920240"/>
            <a:ext cx="3657600" cy="365760"/>
          </a:xfrm>
          <a:prstGeom prst="rect">
            <a:avLst/>
          </a:prstGeom>
          <a:noFill/>
          <a:ln/>
        </p:spPr>
        <p:txBody>
          <a:bodyPr wrap="square" lIns="0" tIns="0" rIns="0" bIns="0" rtlCol="0" anchor="ctr"/>
          <a:lstStyle/>
          <a:p>
            <a:pPr indent="0" marL="0">
              <a:buNone/>
            </a:pPr>
            <a:r>
              <a:rPr lang="en-US" sz="1300" b="1" spc="150" kern="0" dirty="0">
                <a:solidFill>
                  <a:srgbClr val="5C6E6A"/>
                </a:solidFill>
                <a:latin typeface="Calibri" pitchFamily="34" charset="0"/>
                <a:ea typeface="Calibri" pitchFamily="34" charset="-122"/>
                <a:cs typeface="Calibri" pitchFamily="34" charset="-120"/>
              </a:rPr>
              <a:t>OUT OF SCOPE</a:t>
            </a:r>
            <a:endParaRPr lang="en-US" sz="1300" dirty="0"/>
          </a:p>
        </p:txBody>
      </p:sp>
      <p:sp>
        <p:nvSpPr>
          <p:cNvPr id="9" name="Text 7"/>
          <p:cNvSpPr/>
          <p:nvPr/>
        </p:nvSpPr>
        <p:spPr>
          <a:xfrm>
            <a:off x="6583680" y="2377440"/>
            <a:ext cx="4663440" cy="3291840"/>
          </a:xfrm>
          <a:prstGeom prst="rect">
            <a:avLst/>
          </a:prstGeom>
          <a:noFill/>
          <a:ln/>
        </p:spPr>
        <p:txBody>
          <a:bodyPr wrap="square" lIns="0" tIns="0" rIns="0" bIns="0" rtlCol="0" anchor="t"/>
          <a:lstStyle/>
          <a:p>
            <a:pPr marL="254000" indent="-254000">
              <a:spcAft>
                <a:spcPts val="1000"/>
              </a:spcAft>
              <a:buSzPct val="100000"/>
              <a:buChar char="✗"/>
            </a:pPr>
            <a:r>
              <a:rPr lang="en-US" sz="1350" dirty="0">
                <a:solidFill>
                  <a:srgbClr val="5C6E6A"/>
                </a:solidFill>
                <a:latin typeface="Calibri" pitchFamily="34" charset="0"/>
                <a:ea typeface="Calibri" pitchFamily="34" charset="-122"/>
                <a:cs typeface="Calibri" pitchFamily="34" charset="-120"/>
              </a:rPr>
              <a:t>Buying actual panels or hardware</a:t>
            </a:r>
            <a:endParaRPr lang="en-US" sz="1350" dirty="0"/>
          </a:p>
          <a:p>
            <a:pPr marL="254000" indent="-254000">
              <a:spcAft>
                <a:spcPts val="1000"/>
              </a:spcAft>
              <a:buSzPct val="100000"/>
              <a:buChar char="✗"/>
            </a:pPr>
            <a:r>
              <a:rPr lang="en-US" sz="1350" dirty="0">
                <a:solidFill>
                  <a:srgbClr val="5C6E6A"/>
                </a:solidFill>
                <a:latin typeface="Calibri" pitchFamily="34" charset="0"/>
                <a:ea typeface="Calibri" pitchFamily="34" charset="-122"/>
                <a:cs typeface="Calibri" pitchFamily="34" charset="-120"/>
              </a:rPr>
              <a:t>Multi-year capacity planning</a:t>
            </a:r>
            <a:endParaRPr lang="en-US" sz="1350" dirty="0"/>
          </a:p>
          <a:p>
            <a:pPr marL="254000" indent="-254000">
              <a:spcAft>
                <a:spcPts val="1000"/>
              </a:spcAft>
              <a:buSzPct val="100000"/>
              <a:buChar char="✗"/>
            </a:pPr>
            <a:r>
              <a:rPr lang="en-US" sz="1350" dirty="0">
                <a:solidFill>
                  <a:srgbClr val="5C6E6A"/>
                </a:solidFill>
                <a:latin typeface="Calibri" pitchFamily="34" charset="0"/>
                <a:ea typeface="Calibri" pitchFamily="34" charset="-122"/>
                <a:cs typeface="Calibri" pitchFamily="34" charset="-120"/>
              </a:rPr>
              <a:t>Trading carbon credits</a:t>
            </a:r>
            <a:endParaRPr lang="en-US" sz="1350" dirty="0"/>
          </a:p>
          <a:p>
            <a:pPr marL="254000" indent="-254000">
              <a:spcAft>
                <a:spcPts val="1000"/>
              </a:spcAft>
              <a:buSzPct val="100000"/>
              <a:buChar char="✗"/>
            </a:pPr>
            <a:r>
              <a:rPr lang="en-US" sz="1350" dirty="0">
                <a:solidFill>
                  <a:srgbClr val="5C6E6A"/>
                </a:solidFill>
                <a:latin typeface="Calibri" pitchFamily="34" charset="0"/>
                <a:ea typeface="Calibri" pitchFamily="34" charset="-122"/>
                <a:cs typeface="Calibri" pitchFamily="34" charset="-120"/>
              </a:rPr>
              <a:t>Hooking multiple microgrids together</a:t>
            </a:r>
            <a:endParaRPr lang="en-US" sz="135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11" name="Text 9"/>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06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06 · TARGET STAKEHOLDERS</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Integrated Solution for Key Stakeholder Requirements</a:t>
            </a:r>
            <a:endParaRPr lang="en-US" sz="3200" dirty="0"/>
          </a:p>
        </p:txBody>
      </p:sp>
      <p:sp>
        <p:nvSpPr>
          <p:cNvPr id="4" name="Shape 2"/>
          <p:cNvSpPr/>
          <p:nvPr/>
        </p:nvSpPr>
        <p:spPr>
          <a:xfrm>
            <a:off x="640080" y="1737360"/>
            <a:ext cx="3502152" cy="4023360"/>
          </a:xfrm>
          <a:prstGeom prst="roundRect">
            <a:avLst>
              <a:gd name="adj" fmla="val 2611"/>
            </a:avLst>
          </a:prstGeom>
          <a:solidFill>
            <a:srgbClr val="F6FAF9"/>
          </a:solidFill>
          <a:ln w="12700">
            <a:solidFill>
              <a:srgbClr val="D8E6E3"/>
            </a:solidFill>
            <a:prstDash val="solid"/>
          </a:ln>
        </p:spPr>
        <p:txBody>
          <a:bodyPr/>
          <a:p/>
        </p:txBody>
      </p:sp>
      <p:sp>
        <p:nvSpPr>
          <p:cNvPr id="5" name="Shape 3"/>
          <p:cNvSpPr/>
          <p:nvPr/>
        </p:nvSpPr>
        <p:spPr>
          <a:xfrm>
            <a:off x="1979676" y="2057400"/>
            <a:ext cx="822960" cy="822960"/>
          </a:xfrm>
          <a:prstGeom prst="ellipse">
            <a:avLst/>
          </a:prstGeom>
          <a:solidFill>
            <a:srgbClr val="0B4F4A"/>
          </a:solidFill>
          <a:ln/>
        </p:spPr>
        <p:txBody>
          <a:bodyPr/>
          <a:p/>
        </p:txBody>
      </p:sp>
      <p:pic>
        <p:nvPicPr>
          <p:cNvPr id="6" name="Image 0" descr="/home/claude/icons/users.png">    </p:cNvPr>
          <p:cNvPicPr>
            <a:picLocks noChangeAspect="1"/>
          </p:cNvPicPr>
          <p:nvPr/>
        </p:nvPicPr>
        <p:blipFill>
          <a:blip r:embed="rId1"/>
          <a:stretch>
            <a:fillRect/>
          </a:stretch>
        </p:blipFill>
        <p:spPr>
          <a:xfrm>
            <a:off x="2185416" y="2263140"/>
            <a:ext cx="411480" cy="411480"/>
          </a:xfrm>
          <a:prstGeom prst="rect">
            <a:avLst/>
          </a:prstGeom>
        </p:spPr>
      </p:pic>
      <p:sp>
        <p:nvSpPr>
          <p:cNvPr id="7" name="Text 4"/>
          <p:cNvSpPr/>
          <p:nvPr/>
        </p:nvSpPr>
        <p:spPr>
          <a:xfrm>
            <a:off x="914400" y="3063240"/>
            <a:ext cx="2953512" cy="457200"/>
          </a:xfrm>
          <a:prstGeom prst="rect">
            <a:avLst/>
          </a:prstGeom>
          <a:noFill/>
          <a:ln/>
        </p:spPr>
        <p:txBody>
          <a:bodyPr wrap="square" lIns="0" tIns="0" rIns="0" bIns="0" rtlCol="0" anchor="ctr"/>
          <a:lstStyle/>
          <a:p>
            <a:pPr algn="ctr" indent="0" marL="0">
              <a:buNone/>
            </a:pPr>
            <a:r>
              <a:rPr lang="en-US" sz="1700" b="1" dirty="0">
                <a:solidFill>
                  <a:srgbClr val="172622"/>
                </a:solidFill>
                <a:latin typeface="Cambria" pitchFamily="34" charset="0"/>
                <a:ea typeface="Cambria" pitchFamily="34" charset="-122"/>
                <a:cs typeface="Cambria" pitchFamily="34" charset="-120"/>
              </a:rPr>
              <a:t>Site operator</a:t>
            </a:r>
            <a:endParaRPr lang="en-US" sz="1700" dirty="0"/>
          </a:p>
        </p:txBody>
      </p:sp>
      <p:sp>
        <p:nvSpPr>
          <p:cNvPr id="8" name="Text 5"/>
          <p:cNvSpPr/>
          <p:nvPr/>
        </p:nvSpPr>
        <p:spPr>
          <a:xfrm>
            <a:off x="960120" y="3611880"/>
            <a:ext cx="2862072" cy="1965960"/>
          </a:xfrm>
          <a:prstGeom prst="rect">
            <a:avLst/>
          </a:prstGeom>
          <a:noFill/>
          <a:ln/>
        </p:spPr>
        <p:txBody>
          <a:bodyPr wrap="square" lIns="0" tIns="0" rIns="0" bIns="0" rtlCol="0" anchor="ctr"/>
          <a:lstStyle/>
          <a:p>
            <a:pPr algn="ctr" indent="0" marL="0">
              <a:buNone/>
            </a:pPr>
            <a:r>
              <a:rPr lang="en-US" sz="1300" dirty="0">
                <a:solidFill>
                  <a:srgbClr val="5C6E6A"/>
                </a:solidFill>
                <a:latin typeface="Calibri" pitchFamily="34" charset="0"/>
                <a:ea typeface="Calibri" pitchFamily="34" charset="-122"/>
                <a:cs typeface="Calibri" pitchFamily="34" charset="-120"/>
              </a:rPr>
              <a:t>Needs a straight answer, fast — every fifteen minutes, without second-guessing it.</a:t>
            </a:r>
            <a:endParaRPr lang="en-US" sz="1300" dirty="0"/>
          </a:p>
        </p:txBody>
      </p:sp>
      <p:sp>
        <p:nvSpPr>
          <p:cNvPr id="9" name="Shape 6"/>
          <p:cNvSpPr/>
          <p:nvPr/>
        </p:nvSpPr>
        <p:spPr>
          <a:xfrm>
            <a:off x="4370832" y="1737360"/>
            <a:ext cx="3502152" cy="4023360"/>
          </a:xfrm>
          <a:prstGeom prst="roundRect">
            <a:avLst>
              <a:gd name="adj" fmla="val 2611"/>
            </a:avLst>
          </a:prstGeom>
          <a:solidFill>
            <a:srgbClr val="F6FAF9"/>
          </a:solidFill>
          <a:ln w="12700">
            <a:solidFill>
              <a:srgbClr val="D8E6E3"/>
            </a:solidFill>
            <a:prstDash val="solid"/>
          </a:ln>
        </p:spPr>
        <p:txBody>
          <a:bodyPr/>
          <a:p/>
        </p:txBody>
      </p:sp>
      <p:sp>
        <p:nvSpPr>
          <p:cNvPr id="10" name="Shape 7"/>
          <p:cNvSpPr/>
          <p:nvPr/>
        </p:nvSpPr>
        <p:spPr>
          <a:xfrm>
            <a:off x="5710428" y="2057400"/>
            <a:ext cx="822960" cy="822960"/>
          </a:xfrm>
          <a:prstGeom prst="ellipse">
            <a:avLst/>
          </a:prstGeom>
          <a:solidFill>
            <a:srgbClr val="129490"/>
          </a:solidFill>
          <a:ln/>
        </p:spPr>
        <p:txBody>
          <a:bodyPr/>
          <a:p/>
        </p:txBody>
      </p:sp>
      <p:pic>
        <p:nvPicPr>
          <p:cNvPr id="11" name="Image 1" descr="/home/claude/icons/phone.png">    </p:cNvPr>
          <p:cNvPicPr>
            <a:picLocks noChangeAspect="1"/>
          </p:cNvPicPr>
          <p:nvPr/>
        </p:nvPicPr>
        <p:blipFill>
          <a:blip r:embed="rId2"/>
          <a:stretch>
            <a:fillRect/>
          </a:stretch>
        </p:blipFill>
        <p:spPr>
          <a:xfrm>
            <a:off x="5916168" y="2263140"/>
            <a:ext cx="411480" cy="411480"/>
          </a:xfrm>
          <a:prstGeom prst="rect">
            <a:avLst/>
          </a:prstGeom>
        </p:spPr>
      </p:pic>
      <p:sp>
        <p:nvSpPr>
          <p:cNvPr id="12" name="Text 8"/>
          <p:cNvSpPr/>
          <p:nvPr/>
        </p:nvSpPr>
        <p:spPr>
          <a:xfrm>
            <a:off x="4645152" y="3063240"/>
            <a:ext cx="2953512" cy="457200"/>
          </a:xfrm>
          <a:prstGeom prst="rect">
            <a:avLst/>
          </a:prstGeom>
          <a:noFill/>
          <a:ln/>
        </p:spPr>
        <p:txBody>
          <a:bodyPr wrap="square" lIns="0" tIns="0" rIns="0" bIns="0" rtlCol="0" anchor="ctr"/>
          <a:lstStyle/>
          <a:p>
            <a:pPr algn="ctr" indent="0" marL="0">
              <a:buNone/>
            </a:pPr>
            <a:r>
              <a:rPr lang="en-US" sz="1700" b="1" dirty="0">
                <a:solidFill>
                  <a:srgbClr val="172622"/>
                </a:solidFill>
                <a:latin typeface="Cambria" pitchFamily="34" charset="0"/>
                <a:ea typeface="Cambria" pitchFamily="34" charset="-122"/>
                <a:cs typeface="Cambria" pitchFamily="34" charset="-120"/>
              </a:rPr>
              <a:t>NGO field worker</a:t>
            </a:r>
            <a:endParaRPr lang="en-US" sz="1700" dirty="0"/>
          </a:p>
        </p:txBody>
      </p:sp>
      <p:sp>
        <p:nvSpPr>
          <p:cNvPr id="13" name="Text 9"/>
          <p:cNvSpPr/>
          <p:nvPr/>
        </p:nvSpPr>
        <p:spPr>
          <a:xfrm>
            <a:off x="4690872" y="3611880"/>
            <a:ext cx="2862072" cy="1965960"/>
          </a:xfrm>
          <a:prstGeom prst="rect">
            <a:avLst/>
          </a:prstGeom>
          <a:noFill/>
          <a:ln/>
        </p:spPr>
        <p:txBody>
          <a:bodyPr wrap="square" lIns="0" tIns="0" rIns="0" bIns="0" rtlCol="0" anchor="ctr"/>
          <a:lstStyle/>
          <a:p>
            <a:pPr algn="ctr" indent="0" marL="0">
              <a:buNone/>
            </a:pPr>
            <a:r>
              <a:rPr lang="en-US" sz="1300" dirty="0">
                <a:solidFill>
                  <a:srgbClr val="5C6E6A"/>
                </a:solidFill>
                <a:latin typeface="Calibri" pitchFamily="34" charset="0"/>
                <a:ea typeface="Calibri" pitchFamily="34" charset="-122"/>
                <a:cs typeface="Calibri" pitchFamily="34" charset="-120"/>
              </a:rPr>
              <a:t>Sometimes the answer has to arrive over SMS, because the phone doesn't hold a signal for a dashboard.</a:t>
            </a:r>
            <a:endParaRPr lang="en-US" sz="1300" dirty="0"/>
          </a:p>
        </p:txBody>
      </p:sp>
      <p:sp>
        <p:nvSpPr>
          <p:cNvPr id="14" name="Shape 10"/>
          <p:cNvSpPr/>
          <p:nvPr/>
        </p:nvSpPr>
        <p:spPr>
          <a:xfrm>
            <a:off x="8101584" y="1737360"/>
            <a:ext cx="3502152" cy="4023360"/>
          </a:xfrm>
          <a:prstGeom prst="roundRect">
            <a:avLst>
              <a:gd name="adj" fmla="val 2611"/>
            </a:avLst>
          </a:prstGeom>
          <a:solidFill>
            <a:srgbClr val="F6FAF9"/>
          </a:solidFill>
          <a:ln w="12700">
            <a:solidFill>
              <a:srgbClr val="D8E6E3"/>
            </a:solidFill>
            <a:prstDash val="solid"/>
          </a:ln>
        </p:spPr>
        <p:txBody>
          <a:bodyPr/>
          <a:p/>
        </p:txBody>
      </p:sp>
      <p:sp>
        <p:nvSpPr>
          <p:cNvPr id="15" name="Shape 11"/>
          <p:cNvSpPr/>
          <p:nvPr/>
        </p:nvSpPr>
        <p:spPr>
          <a:xfrm>
            <a:off x="9441180" y="2057400"/>
            <a:ext cx="822960" cy="822960"/>
          </a:xfrm>
          <a:prstGeom prst="ellipse">
            <a:avLst/>
          </a:prstGeom>
          <a:solidFill>
            <a:srgbClr val="B9791C"/>
          </a:solidFill>
          <a:ln/>
        </p:spPr>
        <p:txBody>
          <a:bodyPr/>
          <a:p/>
        </p:txBody>
      </p:sp>
      <p:pic>
        <p:nvPicPr>
          <p:cNvPr id="16" name="Image 2" descr="/home/claude/icons/home.png">    </p:cNvPr>
          <p:cNvPicPr>
            <a:picLocks noChangeAspect="1"/>
          </p:cNvPicPr>
          <p:nvPr/>
        </p:nvPicPr>
        <p:blipFill>
          <a:blip r:embed="rId3"/>
          <a:stretch>
            <a:fillRect/>
          </a:stretch>
        </p:blipFill>
        <p:spPr>
          <a:xfrm>
            <a:off x="9646920" y="2263140"/>
            <a:ext cx="411480" cy="411480"/>
          </a:xfrm>
          <a:prstGeom prst="rect">
            <a:avLst/>
          </a:prstGeom>
        </p:spPr>
      </p:pic>
      <p:sp>
        <p:nvSpPr>
          <p:cNvPr id="17" name="Text 12"/>
          <p:cNvSpPr/>
          <p:nvPr/>
        </p:nvSpPr>
        <p:spPr>
          <a:xfrm>
            <a:off x="8375904" y="3063240"/>
            <a:ext cx="2953512" cy="457200"/>
          </a:xfrm>
          <a:prstGeom prst="rect">
            <a:avLst/>
          </a:prstGeom>
          <a:noFill/>
          <a:ln/>
        </p:spPr>
        <p:txBody>
          <a:bodyPr wrap="square" lIns="0" tIns="0" rIns="0" bIns="0" rtlCol="0" anchor="ctr"/>
          <a:lstStyle/>
          <a:p>
            <a:pPr algn="ctr" indent="0" marL="0">
              <a:buNone/>
            </a:pPr>
            <a:r>
              <a:rPr lang="en-US" sz="1700" b="1" dirty="0">
                <a:solidFill>
                  <a:srgbClr val="172622"/>
                </a:solidFill>
                <a:latin typeface="Cambria" pitchFamily="34" charset="0"/>
                <a:ea typeface="Cambria" pitchFamily="34" charset="-122"/>
                <a:cs typeface="Cambria" pitchFamily="34" charset="-120"/>
              </a:rPr>
              <a:t>Community &amp; funders</a:t>
            </a:r>
            <a:endParaRPr lang="en-US" sz="1700" dirty="0"/>
          </a:p>
        </p:txBody>
      </p:sp>
      <p:sp>
        <p:nvSpPr>
          <p:cNvPr id="18" name="Text 13"/>
          <p:cNvSpPr/>
          <p:nvPr/>
        </p:nvSpPr>
        <p:spPr>
          <a:xfrm>
            <a:off x="8421624" y="3611880"/>
            <a:ext cx="2862072" cy="1965960"/>
          </a:xfrm>
          <a:prstGeom prst="rect">
            <a:avLst/>
          </a:prstGeom>
          <a:noFill/>
          <a:ln/>
        </p:spPr>
        <p:txBody>
          <a:bodyPr wrap="square" lIns="0" tIns="0" rIns="0" bIns="0" rtlCol="0" anchor="ctr"/>
          <a:lstStyle/>
          <a:p>
            <a:pPr algn="ctr" indent="0" marL="0">
              <a:buNone/>
            </a:pPr>
            <a:r>
              <a:rPr lang="en-US" sz="1300" dirty="0">
                <a:solidFill>
                  <a:srgbClr val="5C6E6A"/>
                </a:solidFill>
                <a:latin typeface="Calibri" pitchFamily="34" charset="0"/>
                <a:ea typeface="Calibri" pitchFamily="34" charset="-122"/>
                <a:cs typeface="Calibri" pitchFamily="34" charset="-120"/>
              </a:rPr>
              <a:t>Fewer outages for the community; real numbers — diesel avoided, emissions avoided — for funders.</a:t>
            </a:r>
            <a:endParaRPr lang="en-US" sz="1300" dirty="0"/>
          </a:p>
        </p:txBody>
      </p:sp>
      <p:sp>
        <p:nvSpPr>
          <p:cNvPr id="19" name="Text 1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20" name="Text 15"/>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07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07 · SYSTEM ARCHITECTURE</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Five-Stage Architecture with a Continuous 15-Minute Decision Cycle</a:t>
            </a:r>
            <a:endParaRPr lang="en-US" sz="3200" dirty="0"/>
          </a:p>
        </p:txBody>
      </p:sp>
      <p:sp>
        <p:nvSpPr>
          <p:cNvPr id="4" name="Shape 2"/>
          <p:cNvSpPr/>
          <p:nvPr/>
        </p:nvSpPr>
        <p:spPr>
          <a:xfrm>
            <a:off x="777240" y="3246120"/>
            <a:ext cx="1371600" cy="1371600"/>
          </a:xfrm>
          <a:prstGeom prst="ellipse">
            <a:avLst/>
          </a:prstGeom>
          <a:solidFill>
            <a:srgbClr val="0B4F4A"/>
          </a:solidFill>
          <a:ln/>
        </p:spPr>
        <p:txBody>
          <a:bodyPr/>
          <a:p/>
        </p:txBody>
      </p:sp>
      <p:pic>
        <p:nvPicPr>
          <p:cNvPr id="5" name="Image 0" descr="/home/claude/icons/satellite.png">    </p:cNvPr>
          <p:cNvPicPr>
            <a:picLocks noChangeAspect="1"/>
          </p:cNvPicPr>
          <p:nvPr/>
        </p:nvPicPr>
        <p:blipFill>
          <a:blip r:embed="rId1"/>
          <a:stretch>
            <a:fillRect/>
          </a:stretch>
        </p:blipFill>
        <p:spPr>
          <a:xfrm>
            <a:off x="1154430" y="3623310"/>
            <a:ext cx="617220" cy="617220"/>
          </a:xfrm>
          <a:prstGeom prst="rect">
            <a:avLst/>
          </a:prstGeom>
        </p:spPr>
      </p:pic>
      <p:sp>
        <p:nvSpPr>
          <p:cNvPr id="6" name="Text 3"/>
          <p:cNvSpPr/>
          <p:nvPr/>
        </p:nvSpPr>
        <p:spPr>
          <a:xfrm>
            <a:off x="274320" y="4709160"/>
            <a:ext cx="2377440" cy="685800"/>
          </a:xfrm>
          <a:prstGeom prst="rect">
            <a:avLst/>
          </a:prstGeom>
          <a:noFill/>
          <a:ln/>
        </p:spPr>
        <p:txBody>
          <a:bodyPr wrap="square" lIns="0" tIns="0" rIns="0" bIns="0" rtlCol="0" anchor="ctr"/>
          <a:lstStyle/>
          <a:p>
            <a:pPr algn="ctr" indent="0" marL="0">
              <a:buNone/>
            </a:pPr>
            <a:r>
              <a:rPr lang="en-US" sz="1150" dirty="0">
                <a:solidFill>
                  <a:srgbClr val="172622"/>
                </a:solidFill>
                <a:latin typeface="Calibri" pitchFamily="34" charset="0"/>
                <a:ea typeface="Calibri" pitchFamily="34" charset="-122"/>
                <a:cs typeface="Calibri" pitchFamily="34" charset="-120"/>
              </a:rPr>
              <a:t>Weather, demand</a:t>
            </a:r>
            <a:endParaRPr lang="en-US" sz="1150" dirty="0"/>
          </a:p>
          <a:p>
            <a:pPr algn="ctr" indent="0" marL="0">
              <a:buNone/>
            </a:pPr>
            <a:r>
              <a:rPr lang="en-US" sz="1150" dirty="0">
                <a:solidFill>
                  <a:srgbClr val="172622"/>
                </a:solidFill>
                <a:latin typeface="Calibri" pitchFamily="34" charset="0"/>
                <a:ea typeface="Calibri" pitchFamily="34" charset="-122"/>
                <a:cs typeface="Calibri" pitchFamily="34" charset="-120"/>
              </a:rPr>
              <a:t>&amp; battery data</a:t>
            </a:r>
            <a:endParaRPr lang="en-US" sz="1150" dirty="0"/>
          </a:p>
        </p:txBody>
      </p:sp>
      <p:sp>
        <p:nvSpPr>
          <p:cNvPr id="7" name="Shape 4"/>
          <p:cNvSpPr/>
          <p:nvPr/>
        </p:nvSpPr>
        <p:spPr>
          <a:xfrm>
            <a:off x="2203704" y="3831336"/>
            <a:ext cx="786384" cy="201168"/>
          </a:xfrm>
          <a:prstGeom prst="rightArrow">
            <a:avLst/>
          </a:prstGeom>
          <a:solidFill>
            <a:srgbClr val="129490"/>
          </a:solidFill>
          <a:ln/>
        </p:spPr>
        <p:txBody>
          <a:bodyPr/>
          <a:p/>
        </p:txBody>
      </p:sp>
      <p:sp>
        <p:nvSpPr>
          <p:cNvPr id="8" name="Shape 5"/>
          <p:cNvSpPr/>
          <p:nvPr/>
        </p:nvSpPr>
        <p:spPr>
          <a:xfrm>
            <a:off x="3044952" y="3246120"/>
            <a:ext cx="1371600" cy="1371600"/>
          </a:xfrm>
          <a:prstGeom prst="ellipse">
            <a:avLst/>
          </a:prstGeom>
          <a:solidFill>
            <a:srgbClr val="B9791C"/>
          </a:solidFill>
          <a:ln/>
        </p:spPr>
        <p:txBody>
          <a:bodyPr/>
          <a:p/>
        </p:txBody>
      </p:sp>
      <p:pic>
        <p:nvPicPr>
          <p:cNvPr id="9" name="Image 1" descr="/home/claude/icons/cogs.png">    </p:cNvPr>
          <p:cNvPicPr>
            <a:picLocks noChangeAspect="1"/>
          </p:cNvPicPr>
          <p:nvPr/>
        </p:nvPicPr>
        <p:blipFill>
          <a:blip r:embed="rId2"/>
          <a:stretch>
            <a:fillRect/>
          </a:stretch>
        </p:blipFill>
        <p:spPr>
          <a:xfrm>
            <a:off x="3422142" y="3623310"/>
            <a:ext cx="617220" cy="617220"/>
          </a:xfrm>
          <a:prstGeom prst="rect">
            <a:avLst/>
          </a:prstGeom>
        </p:spPr>
      </p:pic>
      <p:sp>
        <p:nvSpPr>
          <p:cNvPr id="10" name="Text 6"/>
          <p:cNvSpPr/>
          <p:nvPr/>
        </p:nvSpPr>
        <p:spPr>
          <a:xfrm>
            <a:off x="2542032" y="4709160"/>
            <a:ext cx="2377440" cy="685800"/>
          </a:xfrm>
          <a:prstGeom prst="rect">
            <a:avLst/>
          </a:prstGeom>
          <a:noFill/>
          <a:ln/>
        </p:spPr>
        <p:txBody>
          <a:bodyPr wrap="square" lIns="0" tIns="0" rIns="0" bIns="0" rtlCol="0" anchor="ctr"/>
          <a:lstStyle/>
          <a:p>
            <a:pPr algn="ctr" indent="0" marL="0">
              <a:buNone/>
            </a:pPr>
            <a:r>
              <a:rPr lang="en-US" sz="1150" dirty="0">
                <a:solidFill>
                  <a:srgbClr val="172622"/>
                </a:solidFill>
                <a:latin typeface="Calibri" pitchFamily="34" charset="0"/>
                <a:ea typeface="Calibri" pitchFamily="34" charset="-122"/>
                <a:cs typeface="Calibri" pitchFamily="34" charset="-120"/>
              </a:rPr>
              <a:t>Optimization</a:t>
            </a:r>
            <a:endParaRPr lang="en-US" sz="1150" dirty="0"/>
          </a:p>
          <a:p>
            <a:pPr algn="ctr" indent="0" marL="0">
              <a:buNone/>
            </a:pPr>
            <a:r>
              <a:rPr lang="en-US" sz="1150" dirty="0">
                <a:solidFill>
                  <a:srgbClr val="172622"/>
                </a:solidFill>
                <a:latin typeface="Calibri" pitchFamily="34" charset="0"/>
                <a:ea typeface="Calibri" pitchFamily="34" charset="-122"/>
                <a:cs typeface="Calibri" pitchFamily="34" charset="-120"/>
              </a:rPr>
              <a:t>engine</a:t>
            </a:r>
            <a:endParaRPr lang="en-US" sz="1150" dirty="0"/>
          </a:p>
        </p:txBody>
      </p:sp>
      <p:sp>
        <p:nvSpPr>
          <p:cNvPr id="11" name="Shape 7"/>
          <p:cNvSpPr/>
          <p:nvPr/>
        </p:nvSpPr>
        <p:spPr>
          <a:xfrm>
            <a:off x="4471416" y="3831336"/>
            <a:ext cx="786384" cy="201168"/>
          </a:xfrm>
          <a:prstGeom prst="rightArrow">
            <a:avLst/>
          </a:prstGeom>
          <a:solidFill>
            <a:srgbClr val="129490"/>
          </a:solidFill>
          <a:ln/>
        </p:spPr>
        <p:txBody>
          <a:bodyPr/>
          <a:p/>
        </p:txBody>
      </p:sp>
      <p:sp>
        <p:nvSpPr>
          <p:cNvPr id="12" name="Shape 8"/>
          <p:cNvSpPr/>
          <p:nvPr/>
        </p:nvSpPr>
        <p:spPr>
          <a:xfrm>
            <a:off x="5312664" y="3246120"/>
            <a:ext cx="1371600" cy="1371600"/>
          </a:xfrm>
          <a:prstGeom prst="ellipse">
            <a:avLst/>
          </a:prstGeom>
          <a:solidFill>
            <a:srgbClr val="0B4F4A"/>
          </a:solidFill>
          <a:ln/>
        </p:spPr>
        <p:txBody>
          <a:bodyPr/>
          <a:p/>
        </p:txBody>
      </p:sp>
      <p:pic>
        <p:nvPicPr>
          <p:cNvPr id="13" name="Image 2" descr="/home/claude/icons/bolt.png">    </p:cNvPr>
          <p:cNvPicPr>
            <a:picLocks noChangeAspect="1"/>
          </p:cNvPicPr>
          <p:nvPr/>
        </p:nvPicPr>
        <p:blipFill>
          <a:blip r:embed="rId3"/>
          <a:stretch>
            <a:fillRect/>
          </a:stretch>
        </p:blipFill>
        <p:spPr>
          <a:xfrm>
            <a:off x="5689854" y="3623310"/>
            <a:ext cx="617220" cy="617220"/>
          </a:xfrm>
          <a:prstGeom prst="rect">
            <a:avLst/>
          </a:prstGeom>
        </p:spPr>
      </p:pic>
      <p:sp>
        <p:nvSpPr>
          <p:cNvPr id="14" name="Text 9"/>
          <p:cNvSpPr/>
          <p:nvPr/>
        </p:nvSpPr>
        <p:spPr>
          <a:xfrm>
            <a:off x="4809744" y="4709160"/>
            <a:ext cx="2377440" cy="685800"/>
          </a:xfrm>
          <a:prstGeom prst="rect">
            <a:avLst/>
          </a:prstGeom>
          <a:noFill/>
          <a:ln/>
        </p:spPr>
        <p:txBody>
          <a:bodyPr wrap="square" lIns="0" tIns="0" rIns="0" bIns="0" rtlCol="0" anchor="ctr"/>
          <a:lstStyle/>
          <a:p>
            <a:pPr algn="ctr" indent="0" marL="0">
              <a:buNone/>
            </a:pPr>
            <a:r>
              <a:rPr lang="en-US" sz="1150" dirty="0">
                <a:solidFill>
                  <a:srgbClr val="172622"/>
                </a:solidFill>
                <a:latin typeface="Calibri" pitchFamily="34" charset="0"/>
                <a:ea typeface="Calibri" pitchFamily="34" charset="-122"/>
                <a:cs typeface="Calibri" pitchFamily="34" charset="-120"/>
              </a:rPr>
              <a:t>Solar · wind ·</a:t>
            </a:r>
            <a:endParaRPr lang="en-US" sz="1150" dirty="0"/>
          </a:p>
          <a:p>
            <a:pPr algn="ctr" indent="0" marL="0">
              <a:buNone/>
            </a:pPr>
            <a:r>
              <a:rPr lang="en-US" sz="1150" dirty="0">
                <a:solidFill>
                  <a:srgbClr val="172622"/>
                </a:solidFill>
                <a:latin typeface="Calibri" pitchFamily="34" charset="0"/>
                <a:ea typeface="Calibri" pitchFamily="34" charset="-122"/>
                <a:cs typeface="Calibri" pitchFamily="34" charset="-120"/>
              </a:rPr>
              <a:t>battery · diesel</a:t>
            </a:r>
            <a:endParaRPr lang="en-US" sz="1150" dirty="0"/>
          </a:p>
        </p:txBody>
      </p:sp>
      <p:sp>
        <p:nvSpPr>
          <p:cNvPr id="15" name="Shape 10"/>
          <p:cNvSpPr/>
          <p:nvPr/>
        </p:nvSpPr>
        <p:spPr>
          <a:xfrm>
            <a:off x="6739128" y="3831336"/>
            <a:ext cx="786384" cy="201168"/>
          </a:xfrm>
          <a:prstGeom prst="rightArrow">
            <a:avLst/>
          </a:prstGeom>
          <a:solidFill>
            <a:srgbClr val="129490"/>
          </a:solidFill>
          <a:ln/>
        </p:spPr>
        <p:txBody>
          <a:bodyPr/>
          <a:p/>
        </p:txBody>
      </p:sp>
      <p:sp>
        <p:nvSpPr>
          <p:cNvPr id="16" name="Shape 11"/>
          <p:cNvSpPr/>
          <p:nvPr/>
        </p:nvSpPr>
        <p:spPr>
          <a:xfrm>
            <a:off x="7580376" y="3246120"/>
            <a:ext cx="1371600" cy="1371600"/>
          </a:xfrm>
          <a:prstGeom prst="ellipse">
            <a:avLst/>
          </a:prstGeom>
          <a:solidFill>
            <a:srgbClr val="0B4F4A"/>
          </a:solidFill>
          <a:ln/>
        </p:spPr>
        <p:txBody>
          <a:bodyPr/>
          <a:p/>
        </p:txBody>
      </p:sp>
      <p:pic>
        <p:nvPicPr>
          <p:cNvPr id="17" name="Image 3" descr="/home/claude/icons/shield.png">    </p:cNvPr>
          <p:cNvPicPr>
            <a:picLocks noChangeAspect="1"/>
          </p:cNvPicPr>
          <p:nvPr/>
        </p:nvPicPr>
        <p:blipFill>
          <a:blip r:embed="rId4"/>
          <a:stretch>
            <a:fillRect/>
          </a:stretch>
        </p:blipFill>
        <p:spPr>
          <a:xfrm>
            <a:off x="7957566" y="3623310"/>
            <a:ext cx="617220" cy="617220"/>
          </a:xfrm>
          <a:prstGeom prst="rect">
            <a:avLst/>
          </a:prstGeom>
        </p:spPr>
      </p:pic>
      <p:sp>
        <p:nvSpPr>
          <p:cNvPr id="18" name="Text 12"/>
          <p:cNvSpPr/>
          <p:nvPr/>
        </p:nvSpPr>
        <p:spPr>
          <a:xfrm>
            <a:off x="7077456" y="4709160"/>
            <a:ext cx="2377440" cy="685800"/>
          </a:xfrm>
          <a:prstGeom prst="rect">
            <a:avLst/>
          </a:prstGeom>
          <a:noFill/>
          <a:ln/>
        </p:spPr>
        <p:txBody>
          <a:bodyPr wrap="square" lIns="0" tIns="0" rIns="0" bIns="0" rtlCol="0" anchor="ctr"/>
          <a:lstStyle/>
          <a:p>
            <a:pPr algn="ctr" indent="0" marL="0">
              <a:buNone/>
            </a:pPr>
            <a:r>
              <a:rPr lang="en-US" sz="1150" dirty="0">
                <a:solidFill>
                  <a:srgbClr val="172622"/>
                </a:solidFill>
                <a:latin typeface="Calibri" pitchFamily="34" charset="0"/>
                <a:ea typeface="Calibri" pitchFamily="34" charset="-122"/>
                <a:cs typeface="Calibri" pitchFamily="34" charset="-120"/>
              </a:rPr>
              <a:t>Blackout</a:t>
            </a:r>
            <a:endParaRPr lang="en-US" sz="1150" dirty="0"/>
          </a:p>
          <a:p>
            <a:pPr algn="ctr" indent="0" marL="0">
              <a:buNone/>
            </a:pPr>
            <a:r>
              <a:rPr lang="en-US" sz="1150" dirty="0">
                <a:solidFill>
                  <a:srgbClr val="172622"/>
                </a:solidFill>
                <a:latin typeface="Calibri" pitchFamily="34" charset="0"/>
                <a:ea typeface="Calibri" pitchFamily="34" charset="-122"/>
                <a:cs typeface="Calibri" pitchFamily="34" charset="-120"/>
              </a:rPr>
              <a:t>validation</a:t>
            </a:r>
            <a:endParaRPr lang="en-US" sz="1150" dirty="0"/>
          </a:p>
        </p:txBody>
      </p:sp>
      <p:sp>
        <p:nvSpPr>
          <p:cNvPr id="19" name="Shape 13"/>
          <p:cNvSpPr/>
          <p:nvPr/>
        </p:nvSpPr>
        <p:spPr>
          <a:xfrm>
            <a:off x="9006840" y="3831336"/>
            <a:ext cx="786384" cy="201168"/>
          </a:xfrm>
          <a:prstGeom prst="rightArrow">
            <a:avLst/>
          </a:prstGeom>
          <a:solidFill>
            <a:srgbClr val="129490"/>
          </a:solidFill>
          <a:ln/>
        </p:spPr>
        <p:txBody>
          <a:bodyPr/>
          <a:p/>
        </p:txBody>
      </p:sp>
      <p:sp>
        <p:nvSpPr>
          <p:cNvPr id="20" name="Shape 14"/>
          <p:cNvSpPr/>
          <p:nvPr/>
        </p:nvSpPr>
        <p:spPr>
          <a:xfrm>
            <a:off x="9848088" y="3246120"/>
            <a:ext cx="1371600" cy="1371600"/>
          </a:xfrm>
          <a:prstGeom prst="ellipse">
            <a:avLst/>
          </a:prstGeom>
          <a:solidFill>
            <a:srgbClr val="0B4F4A"/>
          </a:solidFill>
          <a:ln/>
        </p:spPr>
        <p:txBody>
          <a:bodyPr/>
          <a:p/>
        </p:txBody>
      </p:sp>
      <p:pic>
        <p:nvPicPr>
          <p:cNvPr id="21" name="Image 4" descr="/home/claude/icons/dashboard.png">    </p:cNvPr>
          <p:cNvPicPr>
            <a:picLocks noChangeAspect="1"/>
          </p:cNvPicPr>
          <p:nvPr/>
        </p:nvPicPr>
        <p:blipFill>
          <a:blip r:embed="rId5"/>
          <a:stretch>
            <a:fillRect/>
          </a:stretch>
        </p:blipFill>
        <p:spPr>
          <a:xfrm>
            <a:off x="10225278" y="3623310"/>
            <a:ext cx="617220" cy="617220"/>
          </a:xfrm>
          <a:prstGeom prst="rect">
            <a:avLst/>
          </a:prstGeom>
        </p:spPr>
      </p:pic>
      <p:sp>
        <p:nvSpPr>
          <p:cNvPr id="22" name="Text 15"/>
          <p:cNvSpPr/>
          <p:nvPr/>
        </p:nvSpPr>
        <p:spPr>
          <a:xfrm>
            <a:off x="9345168" y="4709160"/>
            <a:ext cx="2377440" cy="685800"/>
          </a:xfrm>
          <a:prstGeom prst="rect">
            <a:avLst/>
          </a:prstGeom>
          <a:noFill/>
          <a:ln/>
        </p:spPr>
        <p:txBody>
          <a:bodyPr wrap="square" lIns="0" tIns="0" rIns="0" bIns="0" rtlCol="0" anchor="ctr"/>
          <a:lstStyle/>
          <a:p>
            <a:pPr algn="ctr" indent="0" marL="0">
              <a:buNone/>
            </a:pPr>
            <a:r>
              <a:rPr lang="en-US" sz="1150" dirty="0">
                <a:solidFill>
                  <a:srgbClr val="172622"/>
                </a:solidFill>
                <a:latin typeface="Calibri" pitchFamily="34" charset="0"/>
                <a:ea typeface="Calibri" pitchFamily="34" charset="-122"/>
                <a:cs typeface="Calibri" pitchFamily="34" charset="-120"/>
              </a:rPr>
              <a:t>Dashboard</a:t>
            </a:r>
            <a:endParaRPr lang="en-US" sz="1150" dirty="0"/>
          </a:p>
          <a:p>
            <a:pPr algn="ctr" indent="0" marL="0">
              <a:buNone/>
            </a:pPr>
            <a:r>
              <a:rPr lang="en-US" sz="1150" dirty="0">
                <a:solidFill>
                  <a:srgbClr val="172622"/>
                </a:solidFill>
                <a:latin typeface="Calibri" pitchFamily="34" charset="0"/>
                <a:ea typeface="Calibri" pitchFamily="34" charset="-122"/>
                <a:cs typeface="Calibri" pitchFamily="34" charset="-120"/>
              </a:rPr>
              <a:t>(cost · CO2 · reliability)</a:t>
            </a:r>
            <a:endParaRPr lang="en-US" sz="1150" dirty="0"/>
          </a:p>
        </p:txBody>
      </p:sp>
      <p:sp>
        <p:nvSpPr>
          <p:cNvPr id="23" name="Shape 16"/>
          <p:cNvSpPr/>
          <p:nvPr/>
        </p:nvSpPr>
        <p:spPr>
          <a:xfrm>
            <a:off x="1463040" y="5303520"/>
            <a:ext cx="9070848" cy="0"/>
          </a:xfrm>
          <a:prstGeom prst="line">
            <a:avLst/>
          </a:prstGeom>
          <a:noFill/>
          <a:ln w="25400">
            <a:solidFill>
              <a:srgbClr val="8FB6AF"/>
            </a:solidFill>
            <a:prstDash val="dash"/>
            <a:headEnd type="triangle"/>
          </a:ln>
        </p:spPr>
        <p:txBody>
          <a:bodyPr/>
          <a:p/>
        </p:txBody>
      </p:sp>
      <p:sp>
        <p:nvSpPr>
          <p:cNvPr id="24" name="Text 17"/>
          <p:cNvSpPr/>
          <p:nvPr/>
        </p:nvSpPr>
        <p:spPr>
          <a:xfrm>
            <a:off x="4448556" y="5440680"/>
            <a:ext cx="3291840" cy="320040"/>
          </a:xfrm>
          <a:prstGeom prst="rect">
            <a:avLst/>
          </a:prstGeom>
          <a:noFill/>
          <a:ln/>
        </p:spPr>
        <p:txBody>
          <a:bodyPr wrap="square" lIns="0" tIns="0" rIns="0" bIns="0" rtlCol="0" anchor="ctr"/>
          <a:lstStyle/>
          <a:p>
            <a:pPr algn="ctr" indent="0" marL="0">
              <a:buNone/>
            </a:pPr>
            <a:r>
              <a:rPr lang="en-US" sz="1100" i="1" dirty="0">
                <a:solidFill>
                  <a:srgbClr val="5C6E6A"/>
                </a:solidFill>
                <a:latin typeface="Calibri" pitchFamily="34" charset="0"/>
                <a:ea typeface="Calibri" pitchFamily="34" charset="-122"/>
                <a:cs typeface="Calibri" pitchFamily="34" charset="-120"/>
              </a:rPr>
              <a:t>↺  re-runs every 15 minutes</a:t>
            </a:r>
            <a:endParaRPr lang="en-US" sz="1100" dirty="0"/>
          </a:p>
        </p:txBody>
      </p:sp>
      <p:sp>
        <p:nvSpPr>
          <p:cNvPr id="25" name="Text 1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26" name="Text 19"/>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08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08 · OPERATIONAL WORKFLOW</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Six-Step Operational Workflow for Each Dispatch Cycle</a:t>
            </a:r>
            <a:endParaRPr lang="en-US" sz="3200" dirty="0"/>
          </a:p>
        </p:txBody>
      </p:sp>
      <p:sp>
        <p:nvSpPr>
          <p:cNvPr id="4" name="Shape 2"/>
          <p:cNvSpPr/>
          <p:nvPr/>
        </p:nvSpPr>
        <p:spPr>
          <a:xfrm>
            <a:off x="640080" y="2011680"/>
            <a:ext cx="1691640" cy="3017520"/>
          </a:xfrm>
          <a:prstGeom prst="roundRect">
            <a:avLst>
              <a:gd name="adj" fmla="val 4865"/>
            </a:avLst>
          </a:prstGeom>
          <a:solidFill>
            <a:srgbClr val="E7F2F0"/>
          </a:solidFill>
          <a:ln w="12700">
            <a:solidFill>
              <a:srgbClr val="D8E6E3"/>
            </a:solidFill>
            <a:prstDash val="solid"/>
          </a:ln>
        </p:spPr>
        <p:txBody>
          <a:bodyPr/>
          <a:p/>
        </p:txBody>
      </p:sp>
      <p:sp>
        <p:nvSpPr>
          <p:cNvPr id="5" name="Shape 3"/>
          <p:cNvSpPr/>
          <p:nvPr/>
        </p:nvSpPr>
        <p:spPr>
          <a:xfrm>
            <a:off x="1202436" y="2286000"/>
            <a:ext cx="566928" cy="566928"/>
          </a:xfrm>
          <a:prstGeom prst="ellipse">
            <a:avLst/>
          </a:prstGeom>
          <a:solidFill>
            <a:srgbClr val="0B4F4A"/>
          </a:solidFill>
          <a:ln/>
        </p:spPr>
        <p:txBody>
          <a:bodyPr/>
          <a:p/>
        </p:txBody>
      </p:sp>
      <p:pic>
        <p:nvPicPr>
          <p:cNvPr id="6" name="Image 0" descr="/home/claude/icons/eye.png">    </p:cNvPr>
          <p:cNvPicPr>
            <a:picLocks noChangeAspect="1"/>
          </p:cNvPicPr>
          <p:nvPr/>
        </p:nvPicPr>
        <p:blipFill>
          <a:blip r:embed="rId1"/>
          <a:stretch>
            <a:fillRect/>
          </a:stretch>
        </p:blipFill>
        <p:spPr>
          <a:xfrm>
            <a:off x="1344168" y="2427732"/>
            <a:ext cx="283464" cy="283464"/>
          </a:xfrm>
          <a:prstGeom prst="rect">
            <a:avLst/>
          </a:prstGeom>
        </p:spPr>
      </p:pic>
      <p:sp>
        <p:nvSpPr>
          <p:cNvPr id="7" name="Text 4"/>
          <p:cNvSpPr/>
          <p:nvPr/>
        </p:nvSpPr>
        <p:spPr>
          <a:xfrm>
            <a:off x="713232" y="2084832"/>
            <a:ext cx="365760" cy="274320"/>
          </a:xfrm>
          <a:prstGeom prst="rect">
            <a:avLst/>
          </a:prstGeom>
          <a:noFill/>
          <a:ln/>
        </p:spPr>
        <p:txBody>
          <a:bodyPr wrap="square" lIns="0" tIns="0" rIns="0" bIns="0" rtlCol="0" anchor="ctr"/>
          <a:lstStyle/>
          <a:p>
            <a:pPr indent="0" marL="0">
              <a:buNone/>
            </a:pPr>
            <a:r>
              <a:rPr lang="en-US" sz="1100" b="1" dirty="0">
                <a:solidFill>
                  <a:srgbClr val="B9791C"/>
                </a:solidFill>
                <a:latin typeface="Cambria" pitchFamily="34" charset="0"/>
                <a:ea typeface="Cambria" pitchFamily="34" charset="-122"/>
                <a:cs typeface="Cambria" pitchFamily="34" charset="-120"/>
              </a:rPr>
              <a:t>1</a:t>
            </a:r>
            <a:endParaRPr lang="en-US" sz="1100" dirty="0"/>
          </a:p>
        </p:txBody>
      </p:sp>
      <p:sp>
        <p:nvSpPr>
          <p:cNvPr id="8" name="Text 5"/>
          <p:cNvSpPr/>
          <p:nvPr/>
        </p:nvSpPr>
        <p:spPr>
          <a:xfrm>
            <a:off x="731520" y="3017520"/>
            <a:ext cx="1508760" cy="365760"/>
          </a:xfrm>
          <a:prstGeom prst="rect">
            <a:avLst/>
          </a:prstGeom>
          <a:noFill/>
          <a:ln/>
        </p:spPr>
        <p:txBody>
          <a:bodyPr wrap="square" lIns="0" tIns="0" rIns="0" bIns="0" rtlCol="0" anchor="ctr"/>
          <a:lstStyle/>
          <a:p>
            <a:pPr algn="ctr" indent="0" marL="0">
              <a:buNone/>
            </a:pPr>
            <a:r>
              <a:rPr lang="en-US" sz="1500" b="1" dirty="0">
                <a:solidFill>
                  <a:srgbClr val="172622"/>
                </a:solidFill>
                <a:latin typeface="Cambria" pitchFamily="34" charset="0"/>
                <a:ea typeface="Cambria" pitchFamily="34" charset="-122"/>
                <a:cs typeface="Cambria" pitchFamily="34" charset="-120"/>
              </a:rPr>
              <a:t>Sense</a:t>
            </a:r>
            <a:endParaRPr lang="en-US" sz="1500" dirty="0"/>
          </a:p>
        </p:txBody>
      </p:sp>
      <p:sp>
        <p:nvSpPr>
          <p:cNvPr id="9" name="Text 6"/>
          <p:cNvSpPr/>
          <p:nvPr/>
        </p:nvSpPr>
        <p:spPr>
          <a:xfrm>
            <a:off x="749808" y="3429000"/>
            <a:ext cx="1472184" cy="1463040"/>
          </a:xfrm>
          <a:prstGeom prst="rect">
            <a:avLst/>
          </a:prstGeom>
          <a:noFill/>
          <a:ln/>
        </p:spPr>
        <p:txBody>
          <a:bodyPr wrap="square" lIns="0" tIns="0" rIns="0" bIns="0" rtlCol="0" anchor="ctr"/>
          <a:lstStyle/>
          <a:p>
            <a:pPr algn="ctr" indent="0" marL="0">
              <a:buNone/>
            </a:pPr>
            <a:r>
              <a:rPr lang="en-US" sz="1100" dirty="0">
                <a:solidFill>
                  <a:srgbClr val="5C6E6A"/>
                </a:solidFill>
                <a:latin typeface="Calibri" pitchFamily="34" charset="0"/>
                <a:ea typeface="Calibri" pitchFamily="34" charset="-122"/>
                <a:cs typeface="Calibri" pitchFamily="34" charset="-120"/>
              </a:rPr>
              <a:t>battery &amp; load, right now</a:t>
            </a:r>
            <a:endParaRPr lang="en-US" sz="1100" dirty="0"/>
          </a:p>
        </p:txBody>
      </p:sp>
      <p:sp>
        <p:nvSpPr>
          <p:cNvPr id="10" name="Shape 7"/>
          <p:cNvSpPr/>
          <p:nvPr/>
        </p:nvSpPr>
        <p:spPr>
          <a:xfrm>
            <a:off x="2340864" y="3383280"/>
            <a:ext cx="137160" cy="164592"/>
          </a:xfrm>
          <a:prstGeom prst="rightArrow">
            <a:avLst/>
          </a:prstGeom>
          <a:solidFill>
            <a:srgbClr val="129490"/>
          </a:solidFill>
          <a:ln/>
        </p:spPr>
        <p:txBody>
          <a:bodyPr/>
          <a:p/>
        </p:txBody>
      </p:sp>
      <p:sp>
        <p:nvSpPr>
          <p:cNvPr id="11" name="Shape 8"/>
          <p:cNvSpPr/>
          <p:nvPr/>
        </p:nvSpPr>
        <p:spPr>
          <a:xfrm>
            <a:off x="2450592" y="2011680"/>
            <a:ext cx="1691640" cy="3017520"/>
          </a:xfrm>
          <a:prstGeom prst="roundRect">
            <a:avLst>
              <a:gd name="adj" fmla="val 4865"/>
            </a:avLst>
          </a:prstGeom>
          <a:solidFill>
            <a:srgbClr val="F6FAF9"/>
          </a:solidFill>
          <a:ln w="12700">
            <a:solidFill>
              <a:srgbClr val="D8E6E3"/>
            </a:solidFill>
            <a:prstDash val="solid"/>
          </a:ln>
        </p:spPr>
        <p:txBody>
          <a:bodyPr/>
          <a:p/>
        </p:txBody>
      </p:sp>
      <p:sp>
        <p:nvSpPr>
          <p:cNvPr id="12" name="Shape 9"/>
          <p:cNvSpPr/>
          <p:nvPr/>
        </p:nvSpPr>
        <p:spPr>
          <a:xfrm>
            <a:off x="3012948" y="2286000"/>
            <a:ext cx="566928" cy="566928"/>
          </a:xfrm>
          <a:prstGeom prst="ellipse">
            <a:avLst/>
          </a:prstGeom>
          <a:solidFill>
            <a:srgbClr val="0B4F4A"/>
          </a:solidFill>
          <a:ln/>
        </p:spPr>
        <p:txBody>
          <a:bodyPr/>
          <a:p/>
        </p:txBody>
      </p:sp>
      <p:pic>
        <p:nvPicPr>
          <p:cNvPr id="13" name="Image 1" descr="/home/claude/icons/forecast.png">    </p:cNvPr>
          <p:cNvPicPr>
            <a:picLocks noChangeAspect="1"/>
          </p:cNvPicPr>
          <p:nvPr/>
        </p:nvPicPr>
        <p:blipFill>
          <a:blip r:embed="rId2"/>
          <a:stretch>
            <a:fillRect/>
          </a:stretch>
        </p:blipFill>
        <p:spPr>
          <a:xfrm>
            <a:off x="3154680" y="2427732"/>
            <a:ext cx="283464" cy="283464"/>
          </a:xfrm>
          <a:prstGeom prst="rect">
            <a:avLst/>
          </a:prstGeom>
        </p:spPr>
      </p:pic>
      <p:sp>
        <p:nvSpPr>
          <p:cNvPr id="14" name="Text 10"/>
          <p:cNvSpPr/>
          <p:nvPr/>
        </p:nvSpPr>
        <p:spPr>
          <a:xfrm>
            <a:off x="2523744" y="2084832"/>
            <a:ext cx="365760" cy="274320"/>
          </a:xfrm>
          <a:prstGeom prst="rect">
            <a:avLst/>
          </a:prstGeom>
          <a:noFill/>
          <a:ln/>
        </p:spPr>
        <p:txBody>
          <a:bodyPr wrap="square" lIns="0" tIns="0" rIns="0" bIns="0" rtlCol="0" anchor="ctr"/>
          <a:lstStyle/>
          <a:p>
            <a:pPr indent="0" marL="0">
              <a:buNone/>
            </a:pPr>
            <a:r>
              <a:rPr lang="en-US" sz="1100" b="1" dirty="0">
                <a:solidFill>
                  <a:srgbClr val="B9791C"/>
                </a:solidFill>
                <a:latin typeface="Cambria" pitchFamily="34" charset="0"/>
                <a:ea typeface="Cambria" pitchFamily="34" charset="-122"/>
                <a:cs typeface="Cambria" pitchFamily="34" charset="-120"/>
              </a:rPr>
              <a:t>2</a:t>
            </a:r>
            <a:endParaRPr lang="en-US" sz="1100" dirty="0"/>
          </a:p>
        </p:txBody>
      </p:sp>
      <p:sp>
        <p:nvSpPr>
          <p:cNvPr id="15" name="Text 11"/>
          <p:cNvSpPr/>
          <p:nvPr/>
        </p:nvSpPr>
        <p:spPr>
          <a:xfrm>
            <a:off x="2542032" y="3017520"/>
            <a:ext cx="1508760" cy="365760"/>
          </a:xfrm>
          <a:prstGeom prst="rect">
            <a:avLst/>
          </a:prstGeom>
          <a:noFill/>
          <a:ln/>
        </p:spPr>
        <p:txBody>
          <a:bodyPr wrap="square" lIns="0" tIns="0" rIns="0" bIns="0" rtlCol="0" anchor="ctr"/>
          <a:lstStyle/>
          <a:p>
            <a:pPr algn="ctr" indent="0" marL="0">
              <a:buNone/>
            </a:pPr>
            <a:r>
              <a:rPr lang="en-US" sz="1500" b="1" dirty="0">
                <a:solidFill>
                  <a:srgbClr val="172622"/>
                </a:solidFill>
                <a:latin typeface="Cambria" pitchFamily="34" charset="0"/>
                <a:ea typeface="Cambria" pitchFamily="34" charset="-122"/>
                <a:cs typeface="Cambria" pitchFamily="34" charset="-120"/>
              </a:rPr>
              <a:t>Forecast</a:t>
            </a:r>
            <a:endParaRPr lang="en-US" sz="1500" dirty="0"/>
          </a:p>
        </p:txBody>
      </p:sp>
      <p:sp>
        <p:nvSpPr>
          <p:cNvPr id="16" name="Text 12"/>
          <p:cNvSpPr/>
          <p:nvPr/>
        </p:nvSpPr>
        <p:spPr>
          <a:xfrm>
            <a:off x="2560320" y="3429000"/>
            <a:ext cx="1472184" cy="1463040"/>
          </a:xfrm>
          <a:prstGeom prst="rect">
            <a:avLst/>
          </a:prstGeom>
          <a:noFill/>
          <a:ln/>
        </p:spPr>
        <p:txBody>
          <a:bodyPr wrap="square" lIns="0" tIns="0" rIns="0" bIns="0" rtlCol="0" anchor="ctr"/>
          <a:lstStyle/>
          <a:p>
            <a:pPr algn="ctr" indent="0" marL="0">
              <a:buNone/>
            </a:pPr>
            <a:r>
              <a:rPr lang="en-US" sz="1100" dirty="0">
                <a:solidFill>
                  <a:srgbClr val="5C6E6A"/>
                </a:solidFill>
                <a:latin typeface="Calibri" pitchFamily="34" charset="0"/>
                <a:ea typeface="Calibri" pitchFamily="34" charset="-122"/>
                <a:cs typeface="Calibri" pitchFamily="34" charset="-120"/>
              </a:rPr>
              <a:t>next one to six hours</a:t>
            </a:r>
            <a:endParaRPr lang="en-US" sz="1100" dirty="0"/>
          </a:p>
        </p:txBody>
      </p:sp>
      <p:sp>
        <p:nvSpPr>
          <p:cNvPr id="17" name="Shape 13"/>
          <p:cNvSpPr/>
          <p:nvPr/>
        </p:nvSpPr>
        <p:spPr>
          <a:xfrm>
            <a:off x="4151376" y="3383280"/>
            <a:ext cx="137160" cy="164592"/>
          </a:xfrm>
          <a:prstGeom prst="rightArrow">
            <a:avLst/>
          </a:prstGeom>
          <a:solidFill>
            <a:srgbClr val="129490"/>
          </a:solidFill>
          <a:ln/>
        </p:spPr>
        <p:txBody>
          <a:bodyPr/>
          <a:p/>
        </p:txBody>
      </p:sp>
      <p:sp>
        <p:nvSpPr>
          <p:cNvPr id="18" name="Shape 14"/>
          <p:cNvSpPr/>
          <p:nvPr/>
        </p:nvSpPr>
        <p:spPr>
          <a:xfrm>
            <a:off x="4261104" y="2011680"/>
            <a:ext cx="1691640" cy="3017520"/>
          </a:xfrm>
          <a:prstGeom prst="roundRect">
            <a:avLst>
              <a:gd name="adj" fmla="val 4865"/>
            </a:avLst>
          </a:prstGeom>
          <a:solidFill>
            <a:srgbClr val="E7F2F0"/>
          </a:solidFill>
          <a:ln w="12700">
            <a:solidFill>
              <a:srgbClr val="D8E6E3"/>
            </a:solidFill>
            <a:prstDash val="solid"/>
          </a:ln>
        </p:spPr>
        <p:txBody>
          <a:bodyPr/>
          <a:p/>
        </p:txBody>
      </p:sp>
      <p:sp>
        <p:nvSpPr>
          <p:cNvPr id="19" name="Shape 15"/>
          <p:cNvSpPr/>
          <p:nvPr/>
        </p:nvSpPr>
        <p:spPr>
          <a:xfrm>
            <a:off x="4823460" y="2286000"/>
            <a:ext cx="566928" cy="566928"/>
          </a:xfrm>
          <a:prstGeom prst="ellipse">
            <a:avLst/>
          </a:prstGeom>
          <a:solidFill>
            <a:srgbClr val="0B4F4A"/>
          </a:solidFill>
          <a:ln/>
        </p:spPr>
        <p:txBody>
          <a:bodyPr/>
          <a:p/>
        </p:txBody>
      </p:sp>
      <p:pic>
        <p:nvPicPr>
          <p:cNvPr id="20" name="Image 2" descr="/home/claude/icons/cogs.png">    </p:cNvPr>
          <p:cNvPicPr>
            <a:picLocks noChangeAspect="1"/>
          </p:cNvPicPr>
          <p:nvPr/>
        </p:nvPicPr>
        <p:blipFill>
          <a:blip r:embed="rId3"/>
          <a:stretch>
            <a:fillRect/>
          </a:stretch>
        </p:blipFill>
        <p:spPr>
          <a:xfrm>
            <a:off x="4965192" y="2427732"/>
            <a:ext cx="283464" cy="283464"/>
          </a:xfrm>
          <a:prstGeom prst="rect">
            <a:avLst/>
          </a:prstGeom>
        </p:spPr>
      </p:pic>
      <p:sp>
        <p:nvSpPr>
          <p:cNvPr id="21" name="Text 16"/>
          <p:cNvSpPr/>
          <p:nvPr/>
        </p:nvSpPr>
        <p:spPr>
          <a:xfrm>
            <a:off x="4334256" y="2084832"/>
            <a:ext cx="365760" cy="274320"/>
          </a:xfrm>
          <a:prstGeom prst="rect">
            <a:avLst/>
          </a:prstGeom>
          <a:noFill/>
          <a:ln/>
        </p:spPr>
        <p:txBody>
          <a:bodyPr wrap="square" lIns="0" tIns="0" rIns="0" bIns="0" rtlCol="0" anchor="ctr"/>
          <a:lstStyle/>
          <a:p>
            <a:pPr indent="0" marL="0">
              <a:buNone/>
            </a:pPr>
            <a:r>
              <a:rPr lang="en-US" sz="1100" b="1" dirty="0">
                <a:solidFill>
                  <a:srgbClr val="B9791C"/>
                </a:solidFill>
                <a:latin typeface="Cambria" pitchFamily="34" charset="0"/>
                <a:ea typeface="Cambria" pitchFamily="34" charset="-122"/>
                <a:cs typeface="Cambria" pitchFamily="34" charset="-120"/>
              </a:rPr>
              <a:t>3</a:t>
            </a:r>
            <a:endParaRPr lang="en-US" sz="1100" dirty="0"/>
          </a:p>
        </p:txBody>
      </p:sp>
      <p:sp>
        <p:nvSpPr>
          <p:cNvPr id="22" name="Text 17"/>
          <p:cNvSpPr/>
          <p:nvPr/>
        </p:nvSpPr>
        <p:spPr>
          <a:xfrm>
            <a:off x="4352544" y="3017520"/>
            <a:ext cx="1508760" cy="365760"/>
          </a:xfrm>
          <a:prstGeom prst="rect">
            <a:avLst/>
          </a:prstGeom>
          <a:noFill/>
          <a:ln/>
        </p:spPr>
        <p:txBody>
          <a:bodyPr wrap="square" lIns="0" tIns="0" rIns="0" bIns="0" rtlCol="0" anchor="ctr"/>
          <a:lstStyle/>
          <a:p>
            <a:pPr algn="ctr" indent="0" marL="0">
              <a:buNone/>
            </a:pPr>
            <a:r>
              <a:rPr lang="en-US" sz="1500" b="1" dirty="0">
                <a:solidFill>
                  <a:srgbClr val="172622"/>
                </a:solidFill>
                <a:latin typeface="Cambria" pitchFamily="34" charset="0"/>
                <a:ea typeface="Cambria" pitchFamily="34" charset="-122"/>
                <a:cs typeface="Cambria" pitchFamily="34" charset="-120"/>
              </a:rPr>
              <a:t>Optimize</a:t>
            </a:r>
            <a:endParaRPr lang="en-US" sz="1500" dirty="0"/>
          </a:p>
        </p:txBody>
      </p:sp>
      <p:sp>
        <p:nvSpPr>
          <p:cNvPr id="23" name="Text 18"/>
          <p:cNvSpPr/>
          <p:nvPr/>
        </p:nvSpPr>
        <p:spPr>
          <a:xfrm>
            <a:off x="4370832" y="3429000"/>
            <a:ext cx="1472184" cy="1463040"/>
          </a:xfrm>
          <a:prstGeom prst="rect">
            <a:avLst/>
          </a:prstGeom>
          <a:noFill/>
          <a:ln/>
        </p:spPr>
        <p:txBody>
          <a:bodyPr wrap="square" lIns="0" tIns="0" rIns="0" bIns="0" rtlCol="0" anchor="ctr"/>
          <a:lstStyle/>
          <a:p>
            <a:pPr algn="ctr" indent="0" marL="0">
              <a:buNone/>
            </a:pPr>
            <a:r>
              <a:rPr lang="en-US" sz="1100" dirty="0">
                <a:solidFill>
                  <a:srgbClr val="5C6E6A"/>
                </a:solidFill>
                <a:latin typeface="Calibri" pitchFamily="34" charset="0"/>
                <a:ea typeface="Calibri" pitchFamily="34" charset="-122"/>
                <a:cs typeface="Calibri" pitchFamily="34" charset="-120"/>
              </a:rPr>
              <a:t>the dispatch plan</a:t>
            </a:r>
            <a:endParaRPr lang="en-US" sz="1100" dirty="0"/>
          </a:p>
        </p:txBody>
      </p:sp>
      <p:sp>
        <p:nvSpPr>
          <p:cNvPr id="24" name="Shape 19"/>
          <p:cNvSpPr/>
          <p:nvPr/>
        </p:nvSpPr>
        <p:spPr>
          <a:xfrm>
            <a:off x="5961888" y="3383280"/>
            <a:ext cx="137160" cy="164592"/>
          </a:xfrm>
          <a:prstGeom prst="rightArrow">
            <a:avLst/>
          </a:prstGeom>
          <a:solidFill>
            <a:srgbClr val="129490"/>
          </a:solidFill>
          <a:ln/>
        </p:spPr>
        <p:txBody>
          <a:bodyPr/>
          <a:p/>
        </p:txBody>
      </p:sp>
      <p:sp>
        <p:nvSpPr>
          <p:cNvPr id="25" name="Shape 20"/>
          <p:cNvSpPr/>
          <p:nvPr/>
        </p:nvSpPr>
        <p:spPr>
          <a:xfrm>
            <a:off x="6071616" y="2011680"/>
            <a:ext cx="1691640" cy="3017520"/>
          </a:xfrm>
          <a:prstGeom prst="roundRect">
            <a:avLst>
              <a:gd name="adj" fmla="val 4865"/>
            </a:avLst>
          </a:prstGeom>
          <a:solidFill>
            <a:srgbClr val="F6FAF9"/>
          </a:solidFill>
          <a:ln w="12700">
            <a:solidFill>
              <a:srgbClr val="D8E6E3"/>
            </a:solidFill>
            <a:prstDash val="solid"/>
          </a:ln>
        </p:spPr>
        <p:txBody>
          <a:bodyPr/>
          <a:p/>
        </p:txBody>
      </p:sp>
      <p:sp>
        <p:nvSpPr>
          <p:cNvPr id="26" name="Shape 21"/>
          <p:cNvSpPr/>
          <p:nvPr/>
        </p:nvSpPr>
        <p:spPr>
          <a:xfrm>
            <a:off x="6633972" y="2286000"/>
            <a:ext cx="566928" cy="566928"/>
          </a:xfrm>
          <a:prstGeom prst="ellipse">
            <a:avLst/>
          </a:prstGeom>
          <a:solidFill>
            <a:srgbClr val="0B4F4A"/>
          </a:solidFill>
          <a:ln/>
        </p:spPr>
        <p:txBody>
          <a:bodyPr/>
          <a:p/>
        </p:txBody>
      </p:sp>
      <p:pic>
        <p:nvPicPr>
          <p:cNvPr id="27" name="Image 3" descr="/home/claude/icons/bolt.png">    </p:cNvPr>
          <p:cNvPicPr>
            <a:picLocks noChangeAspect="1"/>
          </p:cNvPicPr>
          <p:nvPr/>
        </p:nvPicPr>
        <p:blipFill>
          <a:blip r:embed="rId4"/>
          <a:stretch>
            <a:fillRect/>
          </a:stretch>
        </p:blipFill>
        <p:spPr>
          <a:xfrm>
            <a:off x="6775704" y="2427732"/>
            <a:ext cx="283464" cy="283464"/>
          </a:xfrm>
          <a:prstGeom prst="rect">
            <a:avLst/>
          </a:prstGeom>
        </p:spPr>
      </p:pic>
      <p:sp>
        <p:nvSpPr>
          <p:cNvPr id="28" name="Text 22"/>
          <p:cNvSpPr/>
          <p:nvPr/>
        </p:nvSpPr>
        <p:spPr>
          <a:xfrm>
            <a:off x="6144768" y="2084832"/>
            <a:ext cx="365760" cy="274320"/>
          </a:xfrm>
          <a:prstGeom prst="rect">
            <a:avLst/>
          </a:prstGeom>
          <a:noFill/>
          <a:ln/>
        </p:spPr>
        <p:txBody>
          <a:bodyPr wrap="square" lIns="0" tIns="0" rIns="0" bIns="0" rtlCol="0" anchor="ctr"/>
          <a:lstStyle/>
          <a:p>
            <a:pPr indent="0" marL="0">
              <a:buNone/>
            </a:pPr>
            <a:r>
              <a:rPr lang="en-US" sz="1100" b="1" dirty="0">
                <a:solidFill>
                  <a:srgbClr val="B9791C"/>
                </a:solidFill>
                <a:latin typeface="Cambria" pitchFamily="34" charset="0"/>
                <a:ea typeface="Cambria" pitchFamily="34" charset="-122"/>
                <a:cs typeface="Cambria" pitchFamily="34" charset="-120"/>
              </a:rPr>
              <a:t>4</a:t>
            </a:r>
            <a:endParaRPr lang="en-US" sz="1100" dirty="0"/>
          </a:p>
        </p:txBody>
      </p:sp>
      <p:sp>
        <p:nvSpPr>
          <p:cNvPr id="29" name="Text 23"/>
          <p:cNvSpPr/>
          <p:nvPr/>
        </p:nvSpPr>
        <p:spPr>
          <a:xfrm>
            <a:off x="6163056" y="3017520"/>
            <a:ext cx="1508760" cy="365760"/>
          </a:xfrm>
          <a:prstGeom prst="rect">
            <a:avLst/>
          </a:prstGeom>
          <a:noFill/>
          <a:ln/>
        </p:spPr>
        <p:txBody>
          <a:bodyPr wrap="square" lIns="0" tIns="0" rIns="0" bIns="0" rtlCol="0" anchor="ctr"/>
          <a:lstStyle/>
          <a:p>
            <a:pPr algn="ctr" indent="0" marL="0">
              <a:buNone/>
            </a:pPr>
            <a:r>
              <a:rPr lang="en-US" sz="1500" b="1" dirty="0">
                <a:solidFill>
                  <a:srgbClr val="172622"/>
                </a:solidFill>
                <a:latin typeface="Cambria" pitchFamily="34" charset="0"/>
                <a:ea typeface="Cambria" pitchFamily="34" charset="-122"/>
                <a:cs typeface="Cambria" pitchFamily="34" charset="-120"/>
              </a:rPr>
              <a:t>Dispatch</a:t>
            </a:r>
            <a:endParaRPr lang="en-US" sz="1500" dirty="0"/>
          </a:p>
        </p:txBody>
      </p:sp>
      <p:sp>
        <p:nvSpPr>
          <p:cNvPr id="30" name="Text 24"/>
          <p:cNvSpPr/>
          <p:nvPr/>
        </p:nvSpPr>
        <p:spPr>
          <a:xfrm>
            <a:off x="6181344" y="3429000"/>
            <a:ext cx="1472184" cy="1463040"/>
          </a:xfrm>
          <a:prstGeom prst="rect">
            <a:avLst/>
          </a:prstGeom>
          <a:noFill/>
          <a:ln/>
        </p:spPr>
        <p:txBody>
          <a:bodyPr wrap="square" lIns="0" tIns="0" rIns="0" bIns="0" rtlCol="0" anchor="ctr"/>
          <a:lstStyle/>
          <a:p>
            <a:pPr algn="ctr" indent="0" marL="0">
              <a:buNone/>
            </a:pPr>
            <a:r>
              <a:rPr lang="en-US" sz="1100" dirty="0">
                <a:solidFill>
                  <a:srgbClr val="5C6E6A"/>
                </a:solidFill>
                <a:latin typeface="Calibri" pitchFamily="34" charset="0"/>
                <a:ea typeface="Calibri" pitchFamily="34" charset="-122"/>
                <a:cs typeface="Calibri" pitchFamily="34" charset="-120"/>
              </a:rPr>
              <a:t>across four sources</a:t>
            </a:r>
            <a:endParaRPr lang="en-US" sz="1100" dirty="0"/>
          </a:p>
        </p:txBody>
      </p:sp>
      <p:sp>
        <p:nvSpPr>
          <p:cNvPr id="31" name="Shape 25"/>
          <p:cNvSpPr/>
          <p:nvPr/>
        </p:nvSpPr>
        <p:spPr>
          <a:xfrm>
            <a:off x="7772400" y="3383280"/>
            <a:ext cx="137160" cy="164592"/>
          </a:xfrm>
          <a:prstGeom prst="rightArrow">
            <a:avLst/>
          </a:prstGeom>
          <a:solidFill>
            <a:srgbClr val="129490"/>
          </a:solidFill>
          <a:ln/>
        </p:spPr>
        <p:txBody>
          <a:bodyPr/>
          <a:p/>
        </p:txBody>
      </p:sp>
      <p:sp>
        <p:nvSpPr>
          <p:cNvPr id="32" name="Shape 26"/>
          <p:cNvSpPr/>
          <p:nvPr/>
        </p:nvSpPr>
        <p:spPr>
          <a:xfrm>
            <a:off x="7882128" y="2011680"/>
            <a:ext cx="1691640" cy="3017520"/>
          </a:xfrm>
          <a:prstGeom prst="roundRect">
            <a:avLst>
              <a:gd name="adj" fmla="val 4865"/>
            </a:avLst>
          </a:prstGeom>
          <a:solidFill>
            <a:srgbClr val="E7F2F0"/>
          </a:solidFill>
          <a:ln w="12700">
            <a:solidFill>
              <a:srgbClr val="D8E6E3"/>
            </a:solidFill>
            <a:prstDash val="solid"/>
          </a:ln>
        </p:spPr>
        <p:txBody>
          <a:bodyPr/>
          <a:p/>
        </p:txBody>
      </p:sp>
      <p:sp>
        <p:nvSpPr>
          <p:cNvPr id="33" name="Shape 27"/>
          <p:cNvSpPr/>
          <p:nvPr/>
        </p:nvSpPr>
        <p:spPr>
          <a:xfrm>
            <a:off x="8444484" y="2286000"/>
            <a:ext cx="566928" cy="566928"/>
          </a:xfrm>
          <a:prstGeom prst="ellipse">
            <a:avLst/>
          </a:prstGeom>
          <a:solidFill>
            <a:srgbClr val="0B4F4A"/>
          </a:solidFill>
          <a:ln/>
        </p:spPr>
        <p:txBody>
          <a:bodyPr/>
          <a:p/>
        </p:txBody>
      </p:sp>
      <p:pic>
        <p:nvPicPr>
          <p:cNvPr id="34" name="Image 4" descr="/home/claude/icons/shield.png">    </p:cNvPr>
          <p:cNvPicPr>
            <a:picLocks noChangeAspect="1"/>
          </p:cNvPicPr>
          <p:nvPr/>
        </p:nvPicPr>
        <p:blipFill>
          <a:blip r:embed="rId5"/>
          <a:stretch>
            <a:fillRect/>
          </a:stretch>
        </p:blipFill>
        <p:spPr>
          <a:xfrm>
            <a:off x="8586216" y="2427732"/>
            <a:ext cx="283464" cy="283464"/>
          </a:xfrm>
          <a:prstGeom prst="rect">
            <a:avLst/>
          </a:prstGeom>
        </p:spPr>
      </p:pic>
      <p:sp>
        <p:nvSpPr>
          <p:cNvPr id="35" name="Text 28"/>
          <p:cNvSpPr/>
          <p:nvPr/>
        </p:nvSpPr>
        <p:spPr>
          <a:xfrm>
            <a:off x="7955280" y="2084832"/>
            <a:ext cx="365760" cy="274320"/>
          </a:xfrm>
          <a:prstGeom prst="rect">
            <a:avLst/>
          </a:prstGeom>
          <a:noFill/>
          <a:ln/>
        </p:spPr>
        <p:txBody>
          <a:bodyPr wrap="square" lIns="0" tIns="0" rIns="0" bIns="0" rtlCol="0" anchor="ctr"/>
          <a:lstStyle/>
          <a:p>
            <a:pPr indent="0" marL="0">
              <a:buNone/>
            </a:pPr>
            <a:r>
              <a:rPr lang="en-US" sz="1100" b="1" dirty="0">
                <a:solidFill>
                  <a:srgbClr val="B9791C"/>
                </a:solidFill>
                <a:latin typeface="Cambria" pitchFamily="34" charset="0"/>
                <a:ea typeface="Cambria" pitchFamily="34" charset="-122"/>
                <a:cs typeface="Cambria" pitchFamily="34" charset="-120"/>
              </a:rPr>
              <a:t>5</a:t>
            </a:r>
            <a:endParaRPr lang="en-US" sz="1100" dirty="0"/>
          </a:p>
        </p:txBody>
      </p:sp>
      <p:sp>
        <p:nvSpPr>
          <p:cNvPr id="36" name="Text 29"/>
          <p:cNvSpPr/>
          <p:nvPr/>
        </p:nvSpPr>
        <p:spPr>
          <a:xfrm>
            <a:off x="7973568" y="3017520"/>
            <a:ext cx="1508760" cy="365760"/>
          </a:xfrm>
          <a:prstGeom prst="rect">
            <a:avLst/>
          </a:prstGeom>
          <a:noFill/>
          <a:ln/>
        </p:spPr>
        <p:txBody>
          <a:bodyPr wrap="square" lIns="0" tIns="0" rIns="0" bIns="0" rtlCol="0" anchor="ctr"/>
          <a:lstStyle/>
          <a:p>
            <a:pPr algn="ctr" indent="0" marL="0">
              <a:buNone/>
            </a:pPr>
            <a:r>
              <a:rPr lang="en-US" sz="1500" b="1" dirty="0">
                <a:solidFill>
                  <a:srgbClr val="172622"/>
                </a:solidFill>
                <a:latin typeface="Cambria" pitchFamily="34" charset="0"/>
                <a:ea typeface="Cambria" pitchFamily="34" charset="-122"/>
                <a:cs typeface="Cambria" pitchFamily="34" charset="-120"/>
              </a:rPr>
              <a:t>Validate</a:t>
            </a:r>
            <a:endParaRPr lang="en-US" sz="1500" dirty="0"/>
          </a:p>
        </p:txBody>
      </p:sp>
      <p:sp>
        <p:nvSpPr>
          <p:cNvPr id="37" name="Text 30"/>
          <p:cNvSpPr/>
          <p:nvPr/>
        </p:nvSpPr>
        <p:spPr>
          <a:xfrm>
            <a:off x="7991856" y="3429000"/>
            <a:ext cx="1472184" cy="1463040"/>
          </a:xfrm>
          <a:prstGeom prst="rect">
            <a:avLst/>
          </a:prstGeom>
          <a:noFill/>
          <a:ln/>
        </p:spPr>
        <p:txBody>
          <a:bodyPr wrap="square" lIns="0" tIns="0" rIns="0" bIns="0" rtlCol="0" anchor="ctr"/>
          <a:lstStyle/>
          <a:p>
            <a:pPr algn="ctr" indent="0" marL="0">
              <a:buNone/>
            </a:pPr>
            <a:r>
              <a:rPr lang="en-US" sz="1100" dirty="0">
                <a:solidFill>
                  <a:srgbClr val="5C6E6A"/>
                </a:solidFill>
                <a:latin typeface="Calibri" pitchFamily="34" charset="0"/>
                <a:ea typeface="Calibri" pitchFamily="34" charset="-122"/>
                <a:cs typeface="Calibri" pitchFamily="34" charset="-120"/>
              </a:rPr>
              <a:t>blackout risk + explanation</a:t>
            </a:r>
            <a:endParaRPr lang="en-US" sz="1100" dirty="0"/>
          </a:p>
        </p:txBody>
      </p:sp>
      <p:sp>
        <p:nvSpPr>
          <p:cNvPr id="38" name="Shape 31"/>
          <p:cNvSpPr/>
          <p:nvPr/>
        </p:nvSpPr>
        <p:spPr>
          <a:xfrm>
            <a:off x="9582912" y="3383280"/>
            <a:ext cx="137160" cy="164592"/>
          </a:xfrm>
          <a:prstGeom prst="rightArrow">
            <a:avLst/>
          </a:prstGeom>
          <a:solidFill>
            <a:srgbClr val="129490"/>
          </a:solidFill>
          <a:ln/>
        </p:spPr>
        <p:txBody>
          <a:bodyPr/>
          <a:p/>
        </p:txBody>
      </p:sp>
      <p:sp>
        <p:nvSpPr>
          <p:cNvPr id="39" name="Shape 32"/>
          <p:cNvSpPr/>
          <p:nvPr/>
        </p:nvSpPr>
        <p:spPr>
          <a:xfrm>
            <a:off x="9692640" y="2011680"/>
            <a:ext cx="1691640" cy="3017520"/>
          </a:xfrm>
          <a:prstGeom prst="roundRect">
            <a:avLst>
              <a:gd name="adj" fmla="val 4865"/>
            </a:avLst>
          </a:prstGeom>
          <a:solidFill>
            <a:srgbClr val="F6FAF9"/>
          </a:solidFill>
          <a:ln w="12700">
            <a:solidFill>
              <a:srgbClr val="D8E6E3"/>
            </a:solidFill>
            <a:prstDash val="solid"/>
          </a:ln>
        </p:spPr>
        <p:txBody>
          <a:bodyPr/>
          <a:p/>
        </p:txBody>
      </p:sp>
      <p:sp>
        <p:nvSpPr>
          <p:cNvPr id="40" name="Shape 33"/>
          <p:cNvSpPr/>
          <p:nvPr/>
        </p:nvSpPr>
        <p:spPr>
          <a:xfrm>
            <a:off x="10254996" y="2286000"/>
            <a:ext cx="566928" cy="566928"/>
          </a:xfrm>
          <a:prstGeom prst="ellipse">
            <a:avLst/>
          </a:prstGeom>
          <a:solidFill>
            <a:srgbClr val="0B4F4A"/>
          </a:solidFill>
          <a:ln/>
        </p:spPr>
        <p:txBody>
          <a:bodyPr/>
          <a:p/>
        </p:txBody>
      </p:sp>
      <p:pic>
        <p:nvPicPr>
          <p:cNvPr id="41" name="Image 5" descr="/home/claude/icons/dashboard.png">    </p:cNvPr>
          <p:cNvPicPr>
            <a:picLocks noChangeAspect="1"/>
          </p:cNvPicPr>
          <p:nvPr/>
        </p:nvPicPr>
        <p:blipFill>
          <a:blip r:embed="rId6"/>
          <a:stretch>
            <a:fillRect/>
          </a:stretch>
        </p:blipFill>
        <p:spPr>
          <a:xfrm>
            <a:off x="10396728" y="2427732"/>
            <a:ext cx="283464" cy="283464"/>
          </a:xfrm>
          <a:prstGeom prst="rect">
            <a:avLst/>
          </a:prstGeom>
        </p:spPr>
      </p:pic>
      <p:sp>
        <p:nvSpPr>
          <p:cNvPr id="42" name="Text 34"/>
          <p:cNvSpPr/>
          <p:nvPr/>
        </p:nvSpPr>
        <p:spPr>
          <a:xfrm>
            <a:off x="9765792" y="2084832"/>
            <a:ext cx="365760" cy="274320"/>
          </a:xfrm>
          <a:prstGeom prst="rect">
            <a:avLst/>
          </a:prstGeom>
          <a:noFill/>
          <a:ln/>
        </p:spPr>
        <p:txBody>
          <a:bodyPr wrap="square" lIns="0" tIns="0" rIns="0" bIns="0" rtlCol="0" anchor="ctr"/>
          <a:lstStyle/>
          <a:p>
            <a:pPr indent="0" marL="0">
              <a:buNone/>
            </a:pPr>
            <a:r>
              <a:rPr lang="en-US" sz="1100" b="1" dirty="0">
                <a:solidFill>
                  <a:srgbClr val="B9791C"/>
                </a:solidFill>
                <a:latin typeface="Cambria" pitchFamily="34" charset="0"/>
                <a:ea typeface="Cambria" pitchFamily="34" charset="-122"/>
                <a:cs typeface="Cambria" pitchFamily="34" charset="-120"/>
              </a:rPr>
              <a:t>6</a:t>
            </a:r>
            <a:endParaRPr lang="en-US" sz="1100" dirty="0"/>
          </a:p>
        </p:txBody>
      </p:sp>
      <p:sp>
        <p:nvSpPr>
          <p:cNvPr id="43" name="Text 35"/>
          <p:cNvSpPr/>
          <p:nvPr/>
        </p:nvSpPr>
        <p:spPr>
          <a:xfrm>
            <a:off x="9784080" y="3017520"/>
            <a:ext cx="1508760" cy="365760"/>
          </a:xfrm>
          <a:prstGeom prst="rect">
            <a:avLst/>
          </a:prstGeom>
          <a:noFill/>
          <a:ln/>
        </p:spPr>
        <p:txBody>
          <a:bodyPr wrap="square" lIns="0" tIns="0" rIns="0" bIns="0" rtlCol="0" anchor="ctr"/>
          <a:lstStyle/>
          <a:p>
            <a:pPr algn="ctr" indent="0" marL="0">
              <a:buNone/>
            </a:pPr>
            <a:r>
              <a:rPr lang="en-US" sz="1500" b="1" dirty="0">
                <a:solidFill>
                  <a:srgbClr val="172622"/>
                </a:solidFill>
                <a:latin typeface="Cambria" pitchFamily="34" charset="0"/>
                <a:ea typeface="Cambria" pitchFamily="34" charset="-122"/>
                <a:cs typeface="Cambria" pitchFamily="34" charset="-120"/>
              </a:rPr>
              <a:t>Display</a:t>
            </a:r>
            <a:endParaRPr lang="en-US" sz="1500" dirty="0"/>
          </a:p>
        </p:txBody>
      </p:sp>
      <p:sp>
        <p:nvSpPr>
          <p:cNvPr id="44" name="Text 36"/>
          <p:cNvSpPr/>
          <p:nvPr/>
        </p:nvSpPr>
        <p:spPr>
          <a:xfrm>
            <a:off x="9802368" y="3429000"/>
            <a:ext cx="1472184" cy="1463040"/>
          </a:xfrm>
          <a:prstGeom prst="rect">
            <a:avLst/>
          </a:prstGeom>
          <a:noFill/>
          <a:ln/>
        </p:spPr>
        <p:txBody>
          <a:bodyPr wrap="square" lIns="0" tIns="0" rIns="0" bIns="0" rtlCol="0" anchor="ctr"/>
          <a:lstStyle/>
          <a:p>
            <a:pPr algn="ctr" indent="0" marL="0">
              <a:buNone/>
            </a:pPr>
            <a:r>
              <a:rPr lang="en-US" sz="1100" dirty="0">
                <a:solidFill>
                  <a:srgbClr val="5C6E6A"/>
                </a:solidFill>
                <a:latin typeface="Calibri" pitchFamily="34" charset="0"/>
                <a:ea typeface="Calibri" pitchFamily="34" charset="-122"/>
                <a:cs typeface="Calibri" pitchFamily="34" charset="-120"/>
              </a:rPr>
              <a:t>&amp; log for sharper forecasts</a:t>
            </a:r>
            <a:endParaRPr lang="en-US" sz="1100" dirty="0"/>
          </a:p>
        </p:txBody>
      </p:sp>
      <p:sp>
        <p:nvSpPr>
          <p:cNvPr id="45" name="Text 37"/>
          <p:cNvSpPr/>
          <p:nvPr/>
        </p:nvSpPr>
        <p:spPr>
          <a:xfrm>
            <a:off x="640080" y="5257800"/>
            <a:ext cx="10881360" cy="457200"/>
          </a:xfrm>
          <a:prstGeom prst="rect">
            <a:avLst/>
          </a:prstGeom>
          <a:noFill/>
          <a:ln/>
        </p:spPr>
        <p:txBody>
          <a:bodyPr wrap="square" lIns="0" tIns="0" rIns="0" bIns="0" rtlCol="0" anchor="ctr"/>
          <a:lstStyle/>
          <a:p>
            <a:pPr algn="ctr" indent="0" marL="0">
              <a:buNone/>
            </a:pPr>
            <a:r>
              <a:rPr lang="en-US" sz="1250" i="1" dirty="0">
                <a:solidFill>
                  <a:srgbClr val="5C6E6A"/>
                </a:solidFill>
                <a:latin typeface="Calibri" pitchFamily="34" charset="0"/>
                <a:ea typeface="Calibri" pitchFamily="34" charset="-122"/>
                <a:cs typeface="Calibri" pitchFamily="34" charset="-120"/>
              </a:rPr>
              <a:t>Loops back to Sense — logging what actually happened against what was predicted, so the forecast gets sharper over time.</a:t>
            </a:r>
            <a:endParaRPr lang="en-US" sz="1250" dirty="0"/>
          </a:p>
        </p:txBody>
      </p:sp>
      <p:sp>
        <p:nvSpPr>
          <p:cNvPr id="46" name="Text 3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47" name="Text 39"/>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09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09 · OPTIMIZATION FRAMEWORK</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Optimization Objectives and Operational Constraints</a:t>
            </a:r>
            <a:endParaRPr lang="en-US" sz="3200" dirty="0"/>
          </a:p>
        </p:txBody>
      </p:sp>
      <p:sp>
        <p:nvSpPr>
          <p:cNvPr id="4" name="Shape 2"/>
          <p:cNvSpPr/>
          <p:nvPr/>
        </p:nvSpPr>
        <p:spPr>
          <a:xfrm>
            <a:off x="640080" y="1737360"/>
            <a:ext cx="5120640" cy="4114800"/>
          </a:xfrm>
          <a:prstGeom prst="roundRect">
            <a:avLst>
              <a:gd name="adj" fmla="val 2222"/>
            </a:avLst>
          </a:prstGeom>
          <a:solidFill>
            <a:srgbClr val="0B4F4A"/>
          </a:solidFill>
          <a:ln/>
        </p:spPr>
        <p:txBody>
          <a:bodyPr/>
          <a:p/>
        </p:txBody>
      </p:sp>
      <p:sp>
        <p:nvSpPr>
          <p:cNvPr id="5" name="Text 3"/>
          <p:cNvSpPr/>
          <p:nvPr/>
        </p:nvSpPr>
        <p:spPr>
          <a:xfrm>
            <a:off x="960120" y="1965960"/>
            <a:ext cx="3657600" cy="320040"/>
          </a:xfrm>
          <a:prstGeom prst="rect">
            <a:avLst/>
          </a:prstGeom>
          <a:noFill/>
          <a:ln/>
        </p:spPr>
        <p:txBody>
          <a:bodyPr wrap="square" lIns="0" tIns="0" rIns="0" bIns="0" rtlCol="0" anchor="ctr"/>
          <a:lstStyle/>
          <a:p>
            <a:pPr indent="0" marL="0">
              <a:buNone/>
            </a:pPr>
            <a:r>
              <a:rPr lang="en-US" sz="1200" b="1" spc="150" kern="0" dirty="0">
                <a:solidFill>
                  <a:srgbClr val="E8A33D"/>
                </a:solidFill>
                <a:latin typeface="Calibri" pitchFamily="34" charset="0"/>
                <a:ea typeface="Calibri" pitchFamily="34" charset="-122"/>
                <a:cs typeface="Calibri" pitchFamily="34" charset="-120"/>
              </a:rPr>
              <a:t>THE GOAL</a:t>
            </a:r>
            <a:endParaRPr lang="en-US" sz="1200" dirty="0"/>
          </a:p>
        </p:txBody>
      </p:sp>
      <p:sp>
        <p:nvSpPr>
          <p:cNvPr id="6" name="Text 4"/>
          <p:cNvSpPr/>
          <p:nvPr/>
        </p:nvSpPr>
        <p:spPr>
          <a:xfrm>
            <a:off x="960120" y="2423160"/>
            <a:ext cx="4480560" cy="320040"/>
          </a:xfrm>
          <a:prstGeom prst="rect">
            <a:avLst/>
          </a:prstGeom>
          <a:noFill/>
          <a:ln/>
        </p:spPr>
        <p:txBody>
          <a:bodyPr wrap="square" lIns="0" tIns="0" rIns="0" bIns="0" rtlCol="0" anchor="ctr"/>
          <a:lstStyle/>
          <a:p>
            <a:pPr indent="0" marL="0">
              <a:buNone/>
            </a:pPr>
            <a:r>
              <a:rPr lang="en-US" sz="1300" dirty="0">
                <a:solidFill>
                  <a:srgbClr val="BFE0DA"/>
                </a:solidFill>
                <a:latin typeface="Calibri" pitchFamily="34" charset="0"/>
                <a:ea typeface="Calibri" pitchFamily="34" charset="-122"/>
                <a:cs typeface="Calibri" pitchFamily="34" charset="-120"/>
              </a:rPr>
              <a:t>Minimize:</a:t>
            </a:r>
            <a:endParaRPr lang="en-US" sz="1300" dirty="0"/>
          </a:p>
        </p:txBody>
      </p:sp>
      <p:sp>
        <p:nvSpPr>
          <p:cNvPr id="7" name="Text 5"/>
          <p:cNvSpPr/>
          <p:nvPr/>
        </p:nvSpPr>
        <p:spPr>
          <a:xfrm>
            <a:off x="960120" y="2743200"/>
            <a:ext cx="4480560" cy="9144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Diesel cost  +  Emissions penalty  +  Battery wear cost</a:t>
            </a:r>
            <a:endParaRPr lang="en-US" sz="1700" dirty="0"/>
          </a:p>
        </p:txBody>
      </p:sp>
      <p:sp>
        <p:nvSpPr>
          <p:cNvPr id="8" name="Text 6"/>
          <p:cNvSpPr/>
          <p:nvPr/>
        </p:nvSpPr>
        <p:spPr>
          <a:xfrm>
            <a:off x="960120" y="3794760"/>
            <a:ext cx="4480560" cy="1737360"/>
          </a:xfrm>
          <a:prstGeom prst="rect">
            <a:avLst/>
          </a:prstGeom>
          <a:noFill/>
          <a:ln/>
        </p:spPr>
        <p:txBody>
          <a:bodyPr wrap="square" lIns="0" tIns="0" rIns="0" bIns="0" rtlCol="0" anchor="ctr"/>
          <a:lstStyle/>
          <a:p>
            <a:pPr indent="0" marL="0">
              <a:buNone/>
            </a:pPr>
            <a:r>
              <a:rPr lang="en-US" sz="1300" dirty="0">
                <a:solidFill>
                  <a:srgbClr val="D9EDE9"/>
                </a:solidFill>
                <a:latin typeface="Calibri" pitchFamily="34" charset="0"/>
                <a:ea typeface="Calibri" pitchFamily="34" charset="-122"/>
                <a:cs typeface="Calibri" pitchFamily="34" charset="-120"/>
              </a:rPr>
              <a:t>Re-solved every 15–60 minutes, fast enough in under a second (PuLP or scipy) to keep pace with the dispatch cycle.</a:t>
            </a:r>
            <a:endParaRPr lang="en-US" sz="1300" dirty="0"/>
          </a:p>
        </p:txBody>
      </p:sp>
      <p:sp>
        <p:nvSpPr>
          <p:cNvPr id="9" name="Shape 7"/>
          <p:cNvSpPr/>
          <p:nvPr/>
        </p:nvSpPr>
        <p:spPr>
          <a:xfrm>
            <a:off x="5989320" y="1737360"/>
            <a:ext cx="5577840" cy="4114800"/>
          </a:xfrm>
          <a:prstGeom prst="roundRect">
            <a:avLst>
              <a:gd name="adj" fmla="val 2222"/>
            </a:avLst>
          </a:prstGeom>
          <a:solidFill>
            <a:srgbClr val="F6FAF9"/>
          </a:solidFill>
          <a:ln w="12700">
            <a:solidFill>
              <a:srgbClr val="D8E6E3"/>
            </a:solidFill>
            <a:prstDash val="solid"/>
          </a:ln>
        </p:spPr>
        <p:txBody>
          <a:bodyPr/>
          <a:p/>
        </p:txBody>
      </p:sp>
      <p:sp>
        <p:nvSpPr>
          <p:cNvPr id="10" name="Text 8"/>
          <p:cNvSpPr/>
          <p:nvPr/>
        </p:nvSpPr>
        <p:spPr>
          <a:xfrm>
            <a:off x="6309360" y="1965960"/>
            <a:ext cx="4937760" cy="320040"/>
          </a:xfrm>
          <a:prstGeom prst="rect">
            <a:avLst/>
          </a:prstGeom>
          <a:noFill/>
          <a:ln/>
        </p:spPr>
        <p:txBody>
          <a:bodyPr wrap="square" lIns="0" tIns="0" rIns="0" bIns="0" rtlCol="0" anchor="ctr"/>
          <a:lstStyle/>
          <a:p>
            <a:pPr indent="0" marL="0">
              <a:buNone/>
            </a:pPr>
            <a:r>
              <a:rPr lang="en-US" sz="1200" b="1" spc="100" kern="0" dirty="0">
                <a:solidFill>
                  <a:srgbClr val="0B4F4A"/>
                </a:solidFill>
                <a:latin typeface="Calibri" pitchFamily="34" charset="0"/>
                <a:ea typeface="Calibri" pitchFamily="34" charset="-122"/>
                <a:cs typeface="Calibri" pitchFamily="34" charset="-120"/>
              </a:rPr>
              <a:t>CONSTRAINTS — NEVER BROKEN</a:t>
            </a:r>
            <a:endParaRPr lang="en-US" sz="1200" dirty="0"/>
          </a:p>
        </p:txBody>
      </p:sp>
      <p:sp>
        <p:nvSpPr>
          <p:cNvPr id="11" name="Shape 9"/>
          <p:cNvSpPr/>
          <p:nvPr/>
        </p:nvSpPr>
        <p:spPr>
          <a:xfrm>
            <a:off x="6309360" y="2478024"/>
            <a:ext cx="109728" cy="109728"/>
          </a:xfrm>
          <a:prstGeom prst="ellipse">
            <a:avLst/>
          </a:prstGeom>
          <a:solidFill>
            <a:srgbClr val="B9791C"/>
          </a:solidFill>
          <a:ln/>
        </p:spPr>
        <p:txBody>
          <a:bodyPr/>
          <a:p/>
        </p:txBody>
      </p:sp>
      <p:sp>
        <p:nvSpPr>
          <p:cNvPr id="12" name="Text 10"/>
          <p:cNvSpPr/>
          <p:nvPr/>
        </p:nvSpPr>
        <p:spPr>
          <a:xfrm>
            <a:off x="6583680" y="2304288"/>
            <a:ext cx="4754880" cy="502920"/>
          </a:xfrm>
          <a:prstGeom prst="rect">
            <a:avLst/>
          </a:prstGeom>
          <a:noFill/>
          <a:ln/>
        </p:spPr>
        <p:txBody>
          <a:bodyPr wrap="square" lIns="0" tIns="0" rIns="0" bIns="0" rtlCol="0" anchor="ctr"/>
          <a:lstStyle/>
          <a:p>
            <a:pPr indent="0" marL="0">
              <a:buNone/>
            </a:pPr>
            <a:r>
              <a:rPr lang="en-US" sz="1350" b="1" dirty="0">
                <a:solidFill>
                  <a:srgbClr val="172622"/>
                </a:solidFill>
                <a:latin typeface="Calibri" pitchFamily="34" charset="0"/>
                <a:ea typeface="Calibri" pitchFamily="34" charset="-122"/>
                <a:cs typeface="Calibri" pitchFamily="34" charset="-120"/>
              </a:rPr>
              <a:t>Supply — </a:t>
            </a:r>
            <a:pPr indent="0" marL="0">
              <a:buNone/>
            </a:pPr>
            <a:r>
              <a:rPr lang="en-US" sz="1350" dirty="0">
                <a:solidFill>
                  <a:srgbClr val="5C6E6A"/>
                </a:solidFill>
                <a:latin typeface="Calibri" pitchFamily="34" charset="0"/>
                <a:ea typeface="Calibri" pitchFamily="34" charset="-122"/>
                <a:cs typeface="Calibri" pitchFamily="34" charset="-120"/>
              </a:rPr>
              <a:t>must always meet demand</a:t>
            </a:r>
            <a:endParaRPr lang="en-US" sz="1350" dirty="0"/>
          </a:p>
        </p:txBody>
      </p:sp>
      <p:sp>
        <p:nvSpPr>
          <p:cNvPr id="13" name="Shape 11"/>
          <p:cNvSpPr/>
          <p:nvPr/>
        </p:nvSpPr>
        <p:spPr>
          <a:xfrm>
            <a:off x="6309360" y="3136392"/>
            <a:ext cx="109728" cy="109728"/>
          </a:xfrm>
          <a:prstGeom prst="ellipse">
            <a:avLst/>
          </a:prstGeom>
          <a:solidFill>
            <a:srgbClr val="B9791C"/>
          </a:solidFill>
          <a:ln/>
        </p:spPr>
        <p:txBody>
          <a:bodyPr/>
          <a:p/>
        </p:txBody>
      </p:sp>
      <p:sp>
        <p:nvSpPr>
          <p:cNvPr id="14" name="Text 12"/>
          <p:cNvSpPr/>
          <p:nvPr/>
        </p:nvSpPr>
        <p:spPr>
          <a:xfrm>
            <a:off x="6583680" y="2962656"/>
            <a:ext cx="4754880" cy="502920"/>
          </a:xfrm>
          <a:prstGeom prst="rect">
            <a:avLst/>
          </a:prstGeom>
          <a:noFill/>
          <a:ln/>
        </p:spPr>
        <p:txBody>
          <a:bodyPr wrap="square" lIns="0" tIns="0" rIns="0" bIns="0" rtlCol="0" anchor="ctr"/>
          <a:lstStyle/>
          <a:p>
            <a:pPr indent="0" marL="0">
              <a:buNone/>
            </a:pPr>
            <a:r>
              <a:rPr lang="en-US" sz="1350" b="1" dirty="0">
                <a:solidFill>
                  <a:srgbClr val="172622"/>
                </a:solidFill>
                <a:latin typeface="Calibri" pitchFamily="34" charset="0"/>
                <a:ea typeface="Calibri" pitchFamily="34" charset="-122"/>
                <a:cs typeface="Calibri" pitchFamily="34" charset="-120"/>
              </a:rPr>
              <a:t>Battery floor — </a:t>
            </a:r>
            <a:pPr indent="0" marL="0">
              <a:buNone/>
            </a:pPr>
            <a:r>
              <a:rPr lang="en-US" sz="1350" dirty="0">
                <a:solidFill>
                  <a:srgbClr val="5C6E6A"/>
                </a:solidFill>
                <a:latin typeface="Calibri" pitchFamily="34" charset="0"/>
                <a:ea typeface="Calibri" pitchFamily="34" charset="-122"/>
                <a:cs typeface="Calibri" pitchFamily="34" charset="-120"/>
              </a:rPr>
              <a:t>can't drop below its safety floor</a:t>
            </a:r>
            <a:endParaRPr lang="en-US" sz="1350" dirty="0"/>
          </a:p>
        </p:txBody>
      </p:sp>
      <p:sp>
        <p:nvSpPr>
          <p:cNvPr id="15" name="Shape 13"/>
          <p:cNvSpPr/>
          <p:nvPr/>
        </p:nvSpPr>
        <p:spPr>
          <a:xfrm>
            <a:off x="6309360" y="3794760"/>
            <a:ext cx="109728" cy="109728"/>
          </a:xfrm>
          <a:prstGeom prst="ellipse">
            <a:avLst/>
          </a:prstGeom>
          <a:solidFill>
            <a:srgbClr val="B9791C"/>
          </a:solidFill>
          <a:ln/>
        </p:spPr>
        <p:txBody>
          <a:bodyPr/>
          <a:p/>
        </p:txBody>
      </p:sp>
      <p:sp>
        <p:nvSpPr>
          <p:cNvPr id="16" name="Text 14"/>
          <p:cNvSpPr/>
          <p:nvPr/>
        </p:nvSpPr>
        <p:spPr>
          <a:xfrm>
            <a:off x="6583680" y="3621024"/>
            <a:ext cx="4754880" cy="502920"/>
          </a:xfrm>
          <a:prstGeom prst="rect">
            <a:avLst/>
          </a:prstGeom>
          <a:noFill/>
          <a:ln/>
        </p:spPr>
        <p:txBody>
          <a:bodyPr wrap="square" lIns="0" tIns="0" rIns="0" bIns="0" rtlCol="0" anchor="ctr"/>
          <a:lstStyle/>
          <a:p>
            <a:pPr indent="0" marL="0">
              <a:buNone/>
            </a:pPr>
            <a:r>
              <a:rPr lang="en-US" sz="1350" b="1" dirty="0">
                <a:solidFill>
                  <a:srgbClr val="172622"/>
                </a:solidFill>
                <a:latin typeface="Calibri" pitchFamily="34" charset="0"/>
                <a:ea typeface="Calibri" pitchFamily="34" charset="-122"/>
                <a:cs typeface="Calibri" pitchFamily="34" charset="-120"/>
              </a:rPr>
              <a:t>Diesel cycling — </a:t>
            </a:r>
            <a:pPr indent="0" marL="0">
              <a:buNone/>
            </a:pPr>
            <a:r>
              <a:rPr lang="en-US" sz="1350" dirty="0">
                <a:solidFill>
                  <a:srgbClr val="5C6E6A"/>
                </a:solidFill>
                <a:latin typeface="Calibri" pitchFamily="34" charset="0"/>
                <a:ea typeface="Calibri" pitchFamily="34" charset="-122"/>
                <a:cs typeface="Calibri" pitchFamily="34" charset="-120"/>
              </a:rPr>
              <a:t>can't switch on / off every 5 minutes</a:t>
            </a:r>
            <a:endParaRPr lang="en-US" sz="1350" dirty="0"/>
          </a:p>
        </p:txBody>
      </p:sp>
      <p:sp>
        <p:nvSpPr>
          <p:cNvPr id="17" name="Shape 15"/>
          <p:cNvSpPr/>
          <p:nvPr/>
        </p:nvSpPr>
        <p:spPr>
          <a:xfrm>
            <a:off x="6309360" y="4453128"/>
            <a:ext cx="109728" cy="109728"/>
          </a:xfrm>
          <a:prstGeom prst="ellipse">
            <a:avLst/>
          </a:prstGeom>
          <a:solidFill>
            <a:srgbClr val="B9791C"/>
          </a:solidFill>
          <a:ln/>
        </p:spPr>
        <p:txBody>
          <a:bodyPr/>
          <a:p/>
        </p:txBody>
      </p:sp>
      <p:sp>
        <p:nvSpPr>
          <p:cNvPr id="18" name="Text 16"/>
          <p:cNvSpPr/>
          <p:nvPr/>
        </p:nvSpPr>
        <p:spPr>
          <a:xfrm>
            <a:off x="6583680" y="4279392"/>
            <a:ext cx="4754880" cy="502920"/>
          </a:xfrm>
          <a:prstGeom prst="rect">
            <a:avLst/>
          </a:prstGeom>
          <a:noFill/>
          <a:ln/>
        </p:spPr>
        <p:txBody>
          <a:bodyPr wrap="square" lIns="0" tIns="0" rIns="0" bIns="0" rtlCol="0" anchor="ctr"/>
          <a:lstStyle/>
          <a:p>
            <a:pPr indent="0" marL="0">
              <a:buNone/>
            </a:pPr>
            <a:r>
              <a:rPr lang="en-US" sz="1350" b="1" dirty="0">
                <a:solidFill>
                  <a:srgbClr val="172622"/>
                </a:solidFill>
                <a:latin typeface="Calibri" pitchFamily="34" charset="0"/>
                <a:ea typeface="Calibri" pitchFamily="34" charset="-122"/>
                <a:cs typeface="Calibri" pitchFamily="34" charset="-120"/>
              </a:rPr>
              <a:t>Fuel — </a:t>
            </a:r>
            <a:pPr indent="0" marL="0">
              <a:buNone/>
            </a:pPr>
            <a:r>
              <a:rPr lang="en-US" sz="1350" dirty="0">
                <a:solidFill>
                  <a:srgbClr val="5C6E6A"/>
                </a:solidFill>
                <a:latin typeface="Calibri" pitchFamily="34" charset="0"/>
                <a:ea typeface="Calibri" pitchFamily="34" charset="-122"/>
                <a:cs typeface="Calibri" pitchFamily="34" charset="-120"/>
              </a:rPr>
              <a:t>can never go negative</a:t>
            </a:r>
            <a:endParaRPr lang="en-US" sz="1350" dirty="0"/>
          </a:p>
        </p:txBody>
      </p:sp>
      <p:sp>
        <p:nvSpPr>
          <p:cNvPr id="19" name="Text 17"/>
          <p:cNvSpPr/>
          <p:nvPr/>
        </p:nvSpPr>
        <p:spPr>
          <a:xfrm>
            <a:off x="6309360" y="5193792"/>
            <a:ext cx="4937760" cy="548640"/>
          </a:xfrm>
          <a:prstGeom prst="rect">
            <a:avLst/>
          </a:prstGeom>
          <a:noFill/>
          <a:ln/>
        </p:spPr>
        <p:txBody>
          <a:bodyPr wrap="square" lIns="0" tIns="0" rIns="0" bIns="0" rtlCol="0" anchor="ctr"/>
          <a:lstStyle/>
          <a:p>
            <a:pPr indent="0" marL="0">
              <a:buNone/>
            </a:pPr>
            <a:r>
              <a:rPr lang="en-US" sz="1250" i="1" dirty="0">
                <a:solidFill>
                  <a:srgbClr val="5C6E6A"/>
                </a:solidFill>
                <a:latin typeface="Calibri" pitchFamily="34" charset="0"/>
                <a:ea typeface="Calibri" pitchFamily="34" charset="-122"/>
                <a:cs typeface="Calibri" pitchFamily="34" charset="-120"/>
              </a:rPr>
              <a:t>Rule-based MVP first → graduated to a proper LP / MILP solver.</a:t>
            </a:r>
            <a:endParaRPr lang="en-US" sz="1250" dirty="0"/>
          </a:p>
        </p:txBody>
      </p:sp>
      <p:sp>
        <p:nvSpPr>
          <p:cNvPr id="20" name="Text 1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21" name="Text 19"/>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10 · KEY INNOVATIONS</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Key Innovations and Competitive Differentiation</a:t>
            </a:r>
            <a:endParaRPr lang="en-US" sz="3200" dirty="0"/>
          </a:p>
        </p:txBody>
      </p:sp>
      <p:sp>
        <p:nvSpPr>
          <p:cNvPr id="4" name="Shape 2"/>
          <p:cNvSpPr/>
          <p:nvPr/>
        </p:nvSpPr>
        <p:spPr>
          <a:xfrm>
            <a:off x="640080" y="1783080"/>
            <a:ext cx="5330952" cy="3931920"/>
          </a:xfrm>
          <a:prstGeom prst="roundRect">
            <a:avLst>
              <a:gd name="adj" fmla="val 2326"/>
            </a:avLst>
          </a:prstGeom>
          <a:solidFill>
            <a:srgbClr val="0B4F4A"/>
          </a:solidFill>
          <a:ln/>
        </p:spPr>
        <p:txBody>
          <a:bodyPr/>
          <a:p/>
        </p:txBody>
      </p:sp>
      <p:sp>
        <p:nvSpPr>
          <p:cNvPr id="5" name="Shape 3"/>
          <p:cNvSpPr/>
          <p:nvPr/>
        </p:nvSpPr>
        <p:spPr>
          <a:xfrm>
            <a:off x="1005840" y="2148840"/>
            <a:ext cx="777240" cy="777240"/>
          </a:xfrm>
          <a:prstGeom prst="ellipse">
            <a:avLst/>
          </a:prstGeom>
          <a:solidFill>
            <a:srgbClr val="E8A33D"/>
          </a:solidFill>
          <a:ln/>
        </p:spPr>
        <p:txBody>
          <a:bodyPr/>
          <a:p/>
        </p:txBody>
      </p:sp>
      <p:pic>
        <p:nvPicPr>
          <p:cNvPr id="6" name="Image 0" descr="/home/claude/icons/bell.png">    </p:cNvPr>
          <p:cNvPicPr>
            <a:picLocks noChangeAspect="1"/>
          </p:cNvPicPr>
          <p:nvPr/>
        </p:nvPicPr>
        <p:blipFill>
          <a:blip r:embed="rId1"/>
          <a:stretch>
            <a:fillRect/>
          </a:stretch>
        </p:blipFill>
        <p:spPr>
          <a:xfrm>
            <a:off x="1200150" y="2343150"/>
            <a:ext cx="388620" cy="388620"/>
          </a:xfrm>
          <a:prstGeom prst="rect">
            <a:avLst/>
          </a:prstGeom>
        </p:spPr>
      </p:pic>
      <p:sp>
        <p:nvSpPr>
          <p:cNvPr id="7" name="Text 4"/>
          <p:cNvSpPr/>
          <p:nvPr/>
        </p:nvSpPr>
        <p:spPr>
          <a:xfrm>
            <a:off x="1005840" y="3108960"/>
            <a:ext cx="4599432" cy="8686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 blackout predictor that looks ahead</a:t>
            </a:r>
            <a:endParaRPr lang="en-US" sz="1900" dirty="0"/>
          </a:p>
        </p:txBody>
      </p:sp>
      <p:sp>
        <p:nvSpPr>
          <p:cNvPr id="8" name="Text 5"/>
          <p:cNvSpPr/>
          <p:nvPr/>
        </p:nvSpPr>
        <p:spPr>
          <a:xfrm>
            <a:off x="1005840" y="3977640"/>
            <a:ext cx="4599432" cy="1600200"/>
          </a:xfrm>
          <a:prstGeom prst="rect">
            <a:avLst/>
          </a:prstGeom>
          <a:noFill/>
          <a:ln/>
        </p:spPr>
        <p:txBody>
          <a:bodyPr wrap="square" lIns="0" tIns="0" rIns="0" bIns="0" rtlCol="0" anchor="ctr"/>
          <a:lstStyle/>
          <a:p>
            <a:pPr indent="0" marL="0">
              <a:buNone/>
            </a:pPr>
            <a:r>
              <a:rPr lang="en-US" sz="1400" dirty="0">
                <a:solidFill>
                  <a:srgbClr val="D9EDE9"/>
                </a:solidFill>
                <a:latin typeface="Calibri" pitchFamily="34" charset="0"/>
                <a:ea typeface="Calibri" pitchFamily="34" charset="-122"/>
                <a:cs typeface="Calibri" pitchFamily="34" charset="-120"/>
              </a:rPr>
              <a:t>Runs the simulation forward several cycles, so it catches a shortfall before it happens instead of after.</a:t>
            </a:r>
            <a:endParaRPr lang="en-US" sz="1400" dirty="0"/>
          </a:p>
        </p:txBody>
      </p:sp>
      <p:sp>
        <p:nvSpPr>
          <p:cNvPr id="9" name="Shape 6"/>
          <p:cNvSpPr/>
          <p:nvPr/>
        </p:nvSpPr>
        <p:spPr>
          <a:xfrm>
            <a:off x="6190488" y="1783080"/>
            <a:ext cx="5330952" cy="3931920"/>
          </a:xfrm>
          <a:prstGeom prst="roundRect">
            <a:avLst>
              <a:gd name="adj" fmla="val 2326"/>
            </a:avLst>
          </a:prstGeom>
          <a:solidFill>
            <a:srgbClr val="E7F2F0"/>
          </a:solidFill>
          <a:ln/>
        </p:spPr>
        <p:txBody>
          <a:bodyPr/>
          <a:p/>
        </p:txBody>
      </p:sp>
      <p:sp>
        <p:nvSpPr>
          <p:cNvPr id="10" name="Shape 7"/>
          <p:cNvSpPr/>
          <p:nvPr/>
        </p:nvSpPr>
        <p:spPr>
          <a:xfrm>
            <a:off x="6556248" y="2148840"/>
            <a:ext cx="777240" cy="777240"/>
          </a:xfrm>
          <a:prstGeom prst="ellipse">
            <a:avLst/>
          </a:prstGeom>
          <a:solidFill>
            <a:srgbClr val="0B4F4A"/>
          </a:solidFill>
          <a:ln/>
        </p:spPr>
        <p:txBody>
          <a:bodyPr/>
          <a:p/>
        </p:txBody>
      </p:sp>
      <p:pic>
        <p:nvPicPr>
          <p:cNvPr id="11" name="Image 1" descr="/home/claude/icons/battery.png">    </p:cNvPr>
          <p:cNvPicPr>
            <a:picLocks noChangeAspect="1"/>
          </p:cNvPicPr>
          <p:nvPr/>
        </p:nvPicPr>
        <p:blipFill>
          <a:blip r:embed="rId2"/>
          <a:stretch>
            <a:fillRect/>
          </a:stretch>
        </p:blipFill>
        <p:spPr>
          <a:xfrm>
            <a:off x="6750558" y="2343150"/>
            <a:ext cx="388620" cy="388620"/>
          </a:xfrm>
          <a:prstGeom prst="rect">
            <a:avLst/>
          </a:prstGeom>
        </p:spPr>
      </p:pic>
      <p:sp>
        <p:nvSpPr>
          <p:cNvPr id="12" name="Text 8"/>
          <p:cNvSpPr/>
          <p:nvPr/>
        </p:nvSpPr>
        <p:spPr>
          <a:xfrm>
            <a:off x="6556248" y="3108960"/>
            <a:ext cx="4599432" cy="868680"/>
          </a:xfrm>
          <a:prstGeom prst="rect">
            <a:avLst/>
          </a:prstGeom>
          <a:noFill/>
          <a:ln/>
        </p:spPr>
        <p:txBody>
          <a:bodyPr wrap="square" lIns="0" tIns="0" rIns="0" bIns="0" rtlCol="0" anchor="ctr"/>
          <a:lstStyle/>
          <a:p>
            <a:pPr indent="0" marL="0">
              <a:buNone/>
            </a:pPr>
            <a:r>
              <a:rPr lang="en-US" sz="1900" b="1" dirty="0">
                <a:solidFill>
                  <a:srgbClr val="172622"/>
                </a:solidFill>
                <a:latin typeface="Cambria" pitchFamily="34" charset="0"/>
                <a:ea typeface="Cambria" pitchFamily="34" charset="-122"/>
                <a:cs typeface="Cambria" pitchFamily="34" charset="-120"/>
              </a:rPr>
              <a:t>A degradation-aware cost function</a:t>
            </a:r>
            <a:endParaRPr lang="en-US" sz="1900" dirty="0"/>
          </a:p>
        </p:txBody>
      </p:sp>
      <p:sp>
        <p:nvSpPr>
          <p:cNvPr id="13" name="Text 9"/>
          <p:cNvSpPr/>
          <p:nvPr/>
        </p:nvSpPr>
        <p:spPr>
          <a:xfrm>
            <a:off x="6556248" y="3977640"/>
            <a:ext cx="4599432" cy="1600200"/>
          </a:xfrm>
          <a:prstGeom prst="rect">
            <a:avLst/>
          </a:prstGeom>
          <a:noFill/>
          <a:ln/>
        </p:spPr>
        <p:txBody>
          <a:bodyPr wrap="square" lIns="0" tIns="0" rIns="0" bIns="0" rtlCol="0" anchor="ctr"/>
          <a:lstStyle/>
          <a:p>
            <a:pPr indent="0" marL="0">
              <a:buNone/>
            </a:pPr>
            <a:r>
              <a:rPr lang="en-US" sz="1400" dirty="0">
                <a:solidFill>
                  <a:srgbClr val="5C6E6A"/>
                </a:solidFill>
                <a:latin typeface="Calibri" pitchFamily="34" charset="0"/>
                <a:ea typeface="Calibri" pitchFamily="34" charset="-122"/>
                <a:cs typeface="Calibri" pitchFamily="34" charset="-120"/>
              </a:rPr>
              <a:t>Never saves two rupees of diesel today by wrecking a battery that costs a fortune to replace.</a:t>
            </a:r>
            <a:endParaRPr lang="en-US" sz="1400" dirty="0"/>
          </a:p>
        </p:txBody>
      </p:sp>
      <p:sp>
        <p:nvSpPr>
          <p:cNvPr id="14" name="Text 10"/>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15" name="Text 11"/>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11 · AI-BASED FORECASTING</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Integrated Weather and Historical Data for Six-Hour Forecasting</a:t>
            </a:r>
            <a:endParaRPr lang="en-US" sz="3200" dirty="0"/>
          </a:p>
        </p:txBody>
      </p:sp>
      <p:sp>
        <p:nvSpPr>
          <p:cNvPr id="4" name="Shape 2"/>
          <p:cNvSpPr/>
          <p:nvPr/>
        </p:nvSpPr>
        <p:spPr>
          <a:xfrm>
            <a:off x="640080" y="1691640"/>
            <a:ext cx="3502152" cy="1920240"/>
          </a:xfrm>
          <a:prstGeom prst="roundRect">
            <a:avLst>
              <a:gd name="adj" fmla="val 4286"/>
            </a:avLst>
          </a:prstGeom>
          <a:solidFill>
            <a:srgbClr val="F6FAF9"/>
          </a:solidFill>
          <a:ln w="12700">
            <a:solidFill>
              <a:srgbClr val="D8E6E3"/>
            </a:solidFill>
            <a:prstDash val="solid"/>
          </a:ln>
        </p:spPr>
        <p:txBody>
          <a:bodyPr/>
          <a:p/>
        </p:txBody>
      </p:sp>
      <p:sp>
        <p:nvSpPr>
          <p:cNvPr id="5" name="Shape 3"/>
          <p:cNvSpPr/>
          <p:nvPr/>
        </p:nvSpPr>
        <p:spPr>
          <a:xfrm>
            <a:off x="914400" y="1965960"/>
            <a:ext cx="594360" cy="594360"/>
          </a:xfrm>
          <a:prstGeom prst="ellipse">
            <a:avLst/>
          </a:prstGeom>
          <a:solidFill>
            <a:srgbClr val="129490"/>
          </a:solidFill>
          <a:ln/>
        </p:spPr>
        <p:txBody>
          <a:bodyPr/>
          <a:p/>
        </p:txBody>
      </p:sp>
      <p:pic>
        <p:nvPicPr>
          <p:cNvPr id="6" name="Image 0" descr="/home/claude/icons/solar.png">    </p:cNvPr>
          <p:cNvPicPr>
            <a:picLocks noChangeAspect="1"/>
          </p:cNvPicPr>
          <p:nvPr/>
        </p:nvPicPr>
        <p:blipFill>
          <a:blip r:embed="rId1"/>
          <a:stretch>
            <a:fillRect/>
          </a:stretch>
        </p:blipFill>
        <p:spPr>
          <a:xfrm>
            <a:off x="1062990" y="2114550"/>
            <a:ext cx="297180" cy="297180"/>
          </a:xfrm>
          <a:prstGeom prst="rect">
            <a:avLst/>
          </a:prstGeom>
        </p:spPr>
      </p:pic>
      <p:sp>
        <p:nvSpPr>
          <p:cNvPr id="7" name="Text 4"/>
          <p:cNvSpPr/>
          <p:nvPr/>
        </p:nvSpPr>
        <p:spPr>
          <a:xfrm>
            <a:off x="1691640" y="1993392"/>
            <a:ext cx="2221992" cy="411480"/>
          </a:xfrm>
          <a:prstGeom prst="rect">
            <a:avLst/>
          </a:prstGeom>
          <a:noFill/>
          <a:ln/>
        </p:spPr>
        <p:txBody>
          <a:bodyPr wrap="square" lIns="0" tIns="0" rIns="0" bIns="0" rtlCol="0" anchor="ctr"/>
          <a:lstStyle/>
          <a:p>
            <a:pPr indent="0" marL="0">
              <a:buNone/>
            </a:pPr>
            <a:r>
              <a:rPr lang="en-US" sz="1600" b="1" dirty="0">
                <a:solidFill>
                  <a:srgbClr val="172622"/>
                </a:solidFill>
                <a:latin typeface="Cambria" pitchFamily="34" charset="0"/>
                <a:ea typeface="Cambria" pitchFamily="34" charset="-122"/>
                <a:cs typeface="Cambria" pitchFamily="34" charset="-120"/>
              </a:rPr>
              <a:t>Solar</a:t>
            </a:r>
            <a:endParaRPr lang="en-US" sz="1600" dirty="0"/>
          </a:p>
        </p:txBody>
      </p:sp>
      <p:sp>
        <p:nvSpPr>
          <p:cNvPr id="8" name="Text 5"/>
          <p:cNvSpPr/>
          <p:nvPr/>
        </p:nvSpPr>
        <p:spPr>
          <a:xfrm>
            <a:off x="914400" y="2697480"/>
            <a:ext cx="2953512" cy="868680"/>
          </a:xfrm>
          <a:prstGeom prst="rect">
            <a:avLst/>
          </a:prstGeom>
          <a:noFill/>
          <a:ln/>
        </p:spPr>
        <p:txBody>
          <a:bodyPr wrap="square" lIns="0" tIns="0" rIns="0" bIns="0" rtlCol="0" anchor="ctr"/>
          <a:lstStyle/>
          <a:p>
            <a:pPr indent="0" marL="0">
              <a:buNone/>
            </a:pPr>
            <a:r>
              <a:rPr lang="en-US" sz="1250" dirty="0">
                <a:solidFill>
                  <a:srgbClr val="5C6E6A"/>
                </a:solidFill>
                <a:latin typeface="Calibri" pitchFamily="34" charset="0"/>
                <a:ea typeface="Calibri" pitchFamily="34" charset="-122"/>
                <a:cs typeface="Calibri" pitchFamily="34" charset="-120"/>
              </a:rPr>
              <a:t>Irradiance × panel efficiency</a:t>
            </a:r>
            <a:endParaRPr lang="en-US" sz="1250" dirty="0"/>
          </a:p>
        </p:txBody>
      </p:sp>
      <p:sp>
        <p:nvSpPr>
          <p:cNvPr id="9" name="Shape 6"/>
          <p:cNvSpPr/>
          <p:nvPr/>
        </p:nvSpPr>
        <p:spPr>
          <a:xfrm>
            <a:off x="4370832" y="1691640"/>
            <a:ext cx="3502152" cy="1920240"/>
          </a:xfrm>
          <a:prstGeom prst="roundRect">
            <a:avLst>
              <a:gd name="adj" fmla="val 4286"/>
            </a:avLst>
          </a:prstGeom>
          <a:solidFill>
            <a:srgbClr val="F6FAF9"/>
          </a:solidFill>
          <a:ln w="12700">
            <a:solidFill>
              <a:srgbClr val="D8E6E3"/>
            </a:solidFill>
            <a:prstDash val="solid"/>
          </a:ln>
        </p:spPr>
        <p:txBody>
          <a:bodyPr/>
          <a:p/>
        </p:txBody>
      </p:sp>
      <p:sp>
        <p:nvSpPr>
          <p:cNvPr id="10" name="Shape 7"/>
          <p:cNvSpPr/>
          <p:nvPr/>
        </p:nvSpPr>
        <p:spPr>
          <a:xfrm>
            <a:off x="4645152" y="1965960"/>
            <a:ext cx="594360" cy="594360"/>
          </a:xfrm>
          <a:prstGeom prst="ellipse">
            <a:avLst/>
          </a:prstGeom>
          <a:solidFill>
            <a:srgbClr val="129490"/>
          </a:solidFill>
          <a:ln/>
        </p:spPr>
        <p:txBody>
          <a:bodyPr/>
          <a:p/>
        </p:txBody>
      </p:sp>
      <p:pic>
        <p:nvPicPr>
          <p:cNvPr id="11" name="Image 1" descr="/home/claude/icons/wind.png">    </p:cNvPr>
          <p:cNvPicPr>
            <a:picLocks noChangeAspect="1"/>
          </p:cNvPicPr>
          <p:nvPr/>
        </p:nvPicPr>
        <p:blipFill>
          <a:blip r:embed="rId2"/>
          <a:stretch>
            <a:fillRect/>
          </a:stretch>
        </p:blipFill>
        <p:spPr>
          <a:xfrm>
            <a:off x="4793742" y="2114550"/>
            <a:ext cx="297180" cy="297180"/>
          </a:xfrm>
          <a:prstGeom prst="rect">
            <a:avLst/>
          </a:prstGeom>
        </p:spPr>
      </p:pic>
      <p:sp>
        <p:nvSpPr>
          <p:cNvPr id="12" name="Text 8"/>
          <p:cNvSpPr/>
          <p:nvPr/>
        </p:nvSpPr>
        <p:spPr>
          <a:xfrm>
            <a:off x="5422392" y="1993392"/>
            <a:ext cx="2221992" cy="411480"/>
          </a:xfrm>
          <a:prstGeom prst="rect">
            <a:avLst/>
          </a:prstGeom>
          <a:noFill/>
          <a:ln/>
        </p:spPr>
        <p:txBody>
          <a:bodyPr wrap="square" lIns="0" tIns="0" rIns="0" bIns="0" rtlCol="0" anchor="ctr"/>
          <a:lstStyle/>
          <a:p>
            <a:pPr indent="0" marL="0">
              <a:buNone/>
            </a:pPr>
            <a:r>
              <a:rPr lang="en-US" sz="1600" b="1" dirty="0">
                <a:solidFill>
                  <a:srgbClr val="172622"/>
                </a:solidFill>
                <a:latin typeface="Cambria" pitchFamily="34" charset="0"/>
                <a:ea typeface="Cambria" pitchFamily="34" charset="-122"/>
                <a:cs typeface="Cambria" pitchFamily="34" charset="-120"/>
              </a:rPr>
              <a:t>Wind</a:t>
            </a:r>
            <a:endParaRPr lang="en-US" sz="1600" dirty="0"/>
          </a:p>
        </p:txBody>
      </p:sp>
      <p:sp>
        <p:nvSpPr>
          <p:cNvPr id="13" name="Text 9"/>
          <p:cNvSpPr/>
          <p:nvPr/>
        </p:nvSpPr>
        <p:spPr>
          <a:xfrm>
            <a:off x="4645152" y="2697480"/>
            <a:ext cx="2953512" cy="868680"/>
          </a:xfrm>
          <a:prstGeom prst="rect">
            <a:avLst/>
          </a:prstGeom>
          <a:noFill/>
          <a:ln/>
        </p:spPr>
        <p:txBody>
          <a:bodyPr wrap="square" lIns="0" tIns="0" rIns="0" bIns="0" rtlCol="0" anchor="ctr"/>
          <a:lstStyle/>
          <a:p>
            <a:pPr indent="0" marL="0">
              <a:buNone/>
            </a:pPr>
            <a:r>
              <a:rPr lang="en-US" sz="1250" dirty="0">
                <a:solidFill>
                  <a:srgbClr val="5C6E6A"/>
                </a:solidFill>
                <a:latin typeface="Calibri" pitchFamily="34" charset="0"/>
                <a:ea typeface="Calibri" pitchFamily="34" charset="-122"/>
                <a:cs typeface="Calibri" pitchFamily="34" charset="-120"/>
              </a:rPr>
              <a:t>Turbine's power curve</a:t>
            </a:r>
            <a:endParaRPr lang="en-US" sz="1250" dirty="0"/>
          </a:p>
        </p:txBody>
      </p:sp>
      <p:sp>
        <p:nvSpPr>
          <p:cNvPr id="14" name="Shape 10"/>
          <p:cNvSpPr/>
          <p:nvPr/>
        </p:nvSpPr>
        <p:spPr>
          <a:xfrm>
            <a:off x="8101584" y="1691640"/>
            <a:ext cx="3502152" cy="1920240"/>
          </a:xfrm>
          <a:prstGeom prst="roundRect">
            <a:avLst>
              <a:gd name="adj" fmla="val 4286"/>
            </a:avLst>
          </a:prstGeom>
          <a:solidFill>
            <a:srgbClr val="F6FAF9"/>
          </a:solidFill>
          <a:ln w="12700">
            <a:solidFill>
              <a:srgbClr val="D8E6E3"/>
            </a:solidFill>
            <a:prstDash val="solid"/>
          </a:ln>
        </p:spPr>
        <p:txBody>
          <a:bodyPr/>
          <a:p/>
        </p:txBody>
      </p:sp>
      <p:sp>
        <p:nvSpPr>
          <p:cNvPr id="15" name="Shape 11"/>
          <p:cNvSpPr/>
          <p:nvPr/>
        </p:nvSpPr>
        <p:spPr>
          <a:xfrm>
            <a:off x="8375904" y="1965960"/>
            <a:ext cx="594360" cy="594360"/>
          </a:xfrm>
          <a:prstGeom prst="ellipse">
            <a:avLst/>
          </a:prstGeom>
          <a:solidFill>
            <a:srgbClr val="129490"/>
          </a:solidFill>
          <a:ln/>
        </p:spPr>
        <p:txBody>
          <a:bodyPr/>
          <a:p/>
        </p:txBody>
      </p:sp>
      <p:pic>
        <p:nvPicPr>
          <p:cNvPr id="16" name="Image 2" descr="/home/claude/icons/clock.png">    </p:cNvPr>
          <p:cNvPicPr>
            <a:picLocks noChangeAspect="1"/>
          </p:cNvPicPr>
          <p:nvPr/>
        </p:nvPicPr>
        <p:blipFill>
          <a:blip r:embed="rId3"/>
          <a:stretch>
            <a:fillRect/>
          </a:stretch>
        </p:blipFill>
        <p:spPr>
          <a:xfrm>
            <a:off x="8524494" y="2114550"/>
            <a:ext cx="297180" cy="297180"/>
          </a:xfrm>
          <a:prstGeom prst="rect">
            <a:avLst/>
          </a:prstGeom>
        </p:spPr>
      </p:pic>
      <p:sp>
        <p:nvSpPr>
          <p:cNvPr id="17" name="Text 12"/>
          <p:cNvSpPr/>
          <p:nvPr/>
        </p:nvSpPr>
        <p:spPr>
          <a:xfrm>
            <a:off x="9153144" y="1993392"/>
            <a:ext cx="2221992" cy="411480"/>
          </a:xfrm>
          <a:prstGeom prst="rect">
            <a:avLst/>
          </a:prstGeom>
          <a:noFill/>
          <a:ln/>
        </p:spPr>
        <p:txBody>
          <a:bodyPr wrap="square" lIns="0" tIns="0" rIns="0" bIns="0" rtlCol="0" anchor="ctr"/>
          <a:lstStyle/>
          <a:p>
            <a:pPr indent="0" marL="0">
              <a:buNone/>
            </a:pPr>
            <a:r>
              <a:rPr lang="en-US" sz="1600" b="1" dirty="0">
                <a:solidFill>
                  <a:srgbClr val="172622"/>
                </a:solidFill>
                <a:latin typeface="Cambria" pitchFamily="34" charset="0"/>
                <a:ea typeface="Cambria" pitchFamily="34" charset="-122"/>
                <a:cs typeface="Cambria" pitchFamily="34" charset="-120"/>
              </a:rPr>
              <a:t>Demand</a:t>
            </a:r>
            <a:endParaRPr lang="en-US" sz="1600" dirty="0"/>
          </a:p>
        </p:txBody>
      </p:sp>
      <p:sp>
        <p:nvSpPr>
          <p:cNvPr id="18" name="Text 13"/>
          <p:cNvSpPr/>
          <p:nvPr/>
        </p:nvSpPr>
        <p:spPr>
          <a:xfrm>
            <a:off x="8375904" y="2697480"/>
            <a:ext cx="2953512" cy="868680"/>
          </a:xfrm>
          <a:prstGeom prst="rect">
            <a:avLst/>
          </a:prstGeom>
          <a:noFill/>
          <a:ln/>
        </p:spPr>
        <p:txBody>
          <a:bodyPr wrap="square" lIns="0" tIns="0" rIns="0" bIns="0" rtlCol="0" anchor="ctr"/>
          <a:lstStyle/>
          <a:p>
            <a:pPr indent="0" marL="0">
              <a:buNone/>
            </a:pPr>
            <a:r>
              <a:rPr lang="en-US" sz="1250" dirty="0">
                <a:solidFill>
                  <a:srgbClr val="5C6E6A"/>
                </a:solidFill>
                <a:latin typeface="Calibri" pitchFamily="34" charset="0"/>
                <a:ea typeface="Calibri" pitchFamily="34" charset="-122"/>
                <a:cs typeface="Calibri" pitchFamily="34" charset="-120"/>
              </a:rPr>
              <a:t>Same calendar date last year, blended with the last 7 days' trend</a:t>
            </a:r>
            <a:endParaRPr lang="en-US" sz="1250" dirty="0"/>
          </a:p>
        </p:txBody>
      </p:sp>
      <p:sp>
        <p:nvSpPr>
          <p:cNvPr id="19" name="Shape 14"/>
          <p:cNvSpPr/>
          <p:nvPr/>
        </p:nvSpPr>
        <p:spPr>
          <a:xfrm>
            <a:off x="640080" y="3886200"/>
            <a:ext cx="10881360" cy="1783080"/>
          </a:xfrm>
          <a:prstGeom prst="roundRect">
            <a:avLst>
              <a:gd name="adj" fmla="val 5128"/>
            </a:avLst>
          </a:prstGeom>
          <a:solidFill>
            <a:srgbClr val="0B4F4A"/>
          </a:solidFill>
          <a:ln/>
        </p:spPr>
        <p:txBody>
          <a:bodyPr/>
          <a:p/>
        </p:txBody>
      </p:sp>
      <p:sp>
        <p:nvSpPr>
          <p:cNvPr id="20" name="Text 15"/>
          <p:cNvSpPr/>
          <p:nvPr/>
        </p:nvSpPr>
        <p:spPr>
          <a:xfrm>
            <a:off x="1005840" y="4160520"/>
            <a:ext cx="1014984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Renewables  +  Usable battery  −  Expected demand  =  Surplus / Deficit</a:t>
            </a:r>
            <a:endParaRPr lang="en-US" sz="2000" dirty="0"/>
          </a:p>
        </p:txBody>
      </p:sp>
      <p:sp>
        <p:nvSpPr>
          <p:cNvPr id="21" name="Text 16"/>
          <p:cNvSpPr/>
          <p:nvPr/>
        </p:nvSpPr>
        <p:spPr>
          <a:xfrm>
            <a:off x="1005840" y="4846320"/>
            <a:ext cx="10149840" cy="548640"/>
          </a:xfrm>
          <a:prstGeom prst="rect">
            <a:avLst/>
          </a:prstGeom>
          <a:noFill/>
          <a:ln/>
        </p:spPr>
        <p:txBody>
          <a:bodyPr wrap="square" lIns="0" tIns="0" rIns="0" bIns="0" rtlCol="0" anchor="ctr"/>
          <a:lstStyle/>
          <a:p>
            <a:pPr algn="ctr" indent="0" marL="0">
              <a:buNone/>
            </a:pPr>
            <a:r>
              <a:rPr lang="en-US" sz="1350" i="1" dirty="0">
                <a:solidFill>
                  <a:srgbClr val="D9EDE9"/>
                </a:solidFill>
                <a:latin typeface="Calibri" pitchFamily="34" charset="0"/>
                <a:ea typeface="Calibri" pitchFamily="34" charset="-122"/>
                <a:cs typeface="Calibri" pitchFamily="34" charset="-120"/>
              </a:rPr>
              <a:t>That gap — surplus or deficit — is what actually drives the optimizer.</a:t>
            </a:r>
            <a:endParaRPr lang="en-US" sz="1350" dirty="0"/>
          </a:p>
        </p:txBody>
      </p:sp>
      <p:sp>
        <p:nvSpPr>
          <p:cNvPr id="22" name="Text 17"/>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23" name="Text 18"/>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12 · PREDICTIVE MAINTENANCE</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Early Detection of Equipment Degradation</a:t>
            </a:r>
            <a:endParaRPr lang="en-US" sz="3200" dirty="0"/>
          </a:p>
        </p:txBody>
      </p:sp>
      <p:sp>
        <p:nvSpPr>
          <p:cNvPr id="4" name="Shape 2"/>
          <p:cNvSpPr/>
          <p:nvPr/>
        </p:nvSpPr>
        <p:spPr>
          <a:xfrm>
            <a:off x="640080" y="1828800"/>
            <a:ext cx="1463040" cy="1463040"/>
          </a:xfrm>
          <a:prstGeom prst="ellipse">
            <a:avLst/>
          </a:prstGeom>
          <a:solidFill>
            <a:srgbClr val="0B4F4A"/>
          </a:solidFill>
          <a:ln/>
        </p:spPr>
        <p:txBody>
          <a:bodyPr/>
          <a:p/>
        </p:txBody>
      </p:sp>
      <p:pic>
        <p:nvPicPr>
          <p:cNvPr id="5" name="Image 0" descr="/home/claude/icons/chart.png">    </p:cNvPr>
          <p:cNvPicPr>
            <a:picLocks noChangeAspect="1"/>
          </p:cNvPicPr>
          <p:nvPr/>
        </p:nvPicPr>
        <p:blipFill>
          <a:blip r:embed="rId1"/>
          <a:stretch>
            <a:fillRect/>
          </a:stretch>
        </p:blipFill>
        <p:spPr>
          <a:xfrm>
            <a:off x="1020470" y="2209190"/>
            <a:ext cx="702259" cy="702259"/>
          </a:xfrm>
          <a:prstGeom prst="rect">
            <a:avLst/>
          </a:prstGeom>
        </p:spPr>
      </p:pic>
      <p:sp>
        <p:nvSpPr>
          <p:cNvPr id="6" name="Text 3"/>
          <p:cNvSpPr/>
          <p:nvPr/>
        </p:nvSpPr>
        <p:spPr>
          <a:xfrm>
            <a:off x="2331720" y="1965960"/>
            <a:ext cx="4023360" cy="457200"/>
          </a:xfrm>
          <a:prstGeom prst="rect">
            <a:avLst/>
          </a:prstGeom>
          <a:noFill/>
          <a:ln/>
        </p:spPr>
        <p:txBody>
          <a:bodyPr wrap="square" lIns="0" tIns="0" rIns="0" bIns="0" rtlCol="0" anchor="ctr"/>
          <a:lstStyle/>
          <a:p>
            <a:pPr indent="0" marL="0">
              <a:buNone/>
            </a:pPr>
            <a:r>
              <a:rPr lang="en-US" sz="1900" b="1" dirty="0">
                <a:solidFill>
                  <a:srgbClr val="172622"/>
                </a:solidFill>
                <a:latin typeface="Cambria" pitchFamily="34" charset="0"/>
                <a:ea typeface="Cambria" pitchFamily="34" charset="-122"/>
                <a:cs typeface="Cambria" pitchFamily="34" charset="-120"/>
              </a:rPr>
              <a:t>Performance ratio</a:t>
            </a:r>
            <a:endParaRPr lang="en-US" sz="1900" dirty="0"/>
          </a:p>
        </p:txBody>
      </p:sp>
      <p:sp>
        <p:nvSpPr>
          <p:cNvPr id="7" name="Text 4"/>
          <p:cNvSpPr/>
          <p:nvPr/>
        </p:nvSpPr>
        <p:spPr>
          <a:xfrm>
            <a:off x="2331720" y="2468880"/>
            <a:ext cx="4023360" cy="1371600"/>
          </a:xfrm>
          <a:prstGeom prst="rect">
            <a:avLst/>
          </a:prstGeom>
          <a:noFill/>
          <a:ln/>
        </p:spPr>
        <p:txBody>
          <a:bodyPr wrap="square" lIns="0" tIns="0" rIns="0" bIns="0" rtlCol="0" anchor="ctr"/>
          <a:lstStyle/>
          <a:p>
            <a:pPr indent="0" marL="0">
              <a:buNone/>
            </a:pPr>
            <a:r>
              <a:rPr lang="en-US" sz="1350" dirty="0">
                <a:solidFill>
                  <a:srgbClr val="5C6E6A"/>
                </a:solidFill>
                <a:latin typeface="Calibri" pitchFamily="34" charset="0"/>
                <a:ea typeface="Calibri" pitchFamily="34" charset="-122"/>
                <a:cs typeface="Calibri" pitchFamily="34" charset="-120"/>
              </a:rPr>
              <a:t>What a unit is actually putting out, versus what it should be putting out — tracked continuously, panel by panel, turbine by turbine.</a:t>
            </a:r>
            <a:endParaRPr lang="en-US" sz="1350" dirty="0"/>
          </a:p>
        </p:txBody>
      </p:sp>
      <p:sp>
        <p:nvSpPr>
          <p:cNvPr id="8" name="Shape 5"/>
          <p:cNvSpPr/>
          <p:nvPr/>
        </p:nvSpPr>
        <p:spPr>
          <a:xfrm>
            <a:off x="6766560" y="1783080"/>
            <a:ext cx="4800600" cy="4023360"/>
          </a:xfrm>
          <a:prstGeom prst="roundRect">
            <a:avLst>
              <a:gd name="adj" fmla="val 2273"/>
            </a:avLst>
          </a:prstGeom>
          <a:solidFill>
            <a:srgbClr val="E7F2F0"/>
          </a:solidFill>
          <a:ln/>
        </p:spPr>
        <p:txBody>
          <a:bodyPr/>
          <a:p/>
        </p:txBody>
      </p:sp>
      <p:sp>
        <p:nvSpPr>
          <p:cNvPr id="9" name="Shape 6"/>
          <p:cNvSpPr/>
          <p:nvPr/>
        </p:nvSpPr>
        <p:spPr>
          <a:xfrm>
            <a:off x="7086600" y="2103120"/>
            <a:ext cx="640080" cy="640080"/>
          </a:xfrm>
          <a:prstGeom prst="ellipse">
            <a:avLst/>
          </a:prstGeom>
          <a:solidFill>
            <a:srgbClr val="0B4F4A"/>
          </a:solidFill>
          <a:ln/>
        </p:spPr>
        <p:txBody>
          <a:bodyPr/>
          <a:p/>
        </p:txBody>
      </p:sp>
      <p:pic>
        <p:nvPicPr>
          <p:cNvPr id="10" name="Image 1" descr="/home/claude/icons/shield.png">    </p:cNvPr>
          <p:cNvPicPr>
            <a:picLocks noChangeAspect="1"/>
          </p:cNvPicPr>
          <p:nvPr/>
        </p:nvPicPr>
        <p:blipFill>
          <a:blip r:embed="rId2"/>
          <a:stretch>
            <a:fillRect/>
          </a:stretch>
        </p:blipFill>
        <p:spPr>
          <a:xfrm>
            <a:off x="7246620" y="2263140"/>
            <a:ext cx="320040" cy="320040"/>
          </a:xfrm>
          <a:prstGeom prst="rect">
            <a:avLst/>
          </a:prstGeom>
        </p:spPr>
      </p:pic>
      <p:sp>
        <p:nvSpPr>
          <p:cNvPr id="11" name="Text 7"/>
          <p:cNvSpPr/>
          <p:nvPr/>
        </p:nvSpPr>
        <p:spPr>
          <a:xfrm>
            <a:off x="7909560" y="2148840"/>
            <a:ext cx="3520440" cy="548640"/>
          </a:xfrm>
          <a:prstGeom prst="rect">
            <a:avLst/>
          </a:prstGeom>
          <a:noFill/>
          <a:ln/>
        </p:spPr>
        <p:txBody>
          <a:bodyPr wrap="square" lIns="0" tIns="0" rIns="0" bIns="0" rtlCol="0" anchor="ctr"/>
          <a:lstStyle/>
          <a:p>
            <a:pPr indent="0" marL="0">
              <a:buNone/>
            </a:pPr>
            <a:r>
              <a:rPr lang="en-US" sz="1600" b="1" dirty="0">
                <a:solidFill>
                  <a:srgbClr val="172622"/>
                </a:solidFill>
                <a:latin typeface="Cambria" pitchFamily="34" charset="0"/>
                <a:ea typeface="Cambria" pitchFamily="34" charset="-122"/>
                <a:cs typeface="Cambria" pitchFamily="34" charset="-120"/>
              </a:rPr>
              <a:t>Careful about false alarms</a:t>
            </a:r>
            <a:endParaRPr lang="en-US" sz="1600" dirty="0"/>
          </a:p>
        </p:txBody>
      </p:sp>
      <p:sp>
        <p:nvSpPr>
          <p:cNvPr id="12" name="Text 8"/>
          <p:cNvSpPr/>
          <p:nvPr/>
        </p:nvSpPr>
        <p:spPr>
          <a:xfrm>
            <a:off x="7086600" y="2880360"/>
            <a:ext cx="4206240" cy="1737360"/>
          </a:xfrm>
          <a:prstGeom prst="rect">
            <a:avLst/>
          </a:prstGeom>
          <a:noFill/>
          <a:ln/>
        </p:spPr>
        <p:txBody>
          <a:bodyPr wrap="square" lIns="0" tIns="0" rIns="0" bIns="0" rtlCol="0" anchor="ctr"/>
          <a:lstStyle/>
          <a:p>
            <a:pPr marL="228600" indent="-228600">
              <a:spcAft>
                <a:spcPts val="1200"/>
              </a:spcAft>
              <a:buSzPct val="100000"/>
              <a:buChar char="•"/>
            </a:pPr>
            <a:r>
              <a:rPr lang="en-US" sz="1350" dirty="0">
                <a:solidFill>
                  <a:srgbClr val="172622"/>
                </a:solidFill>
                <a:latin typeface="Calibri" pitchFamily="34" charset="0"/>
                <a:ea typeface="Calibri" pitchFamily="34" charset="-122"/>
                <a:cs typeface="Calibri" pitchFamily="34" charset="-120"/>
              </a:rPr>
              <a:t>One bad reading never triggers an alert on its own</a:t>
            </a:r>
            <a:endParaRPr lang="en-US" sz="1350" dirty="0"/>
          </a:p>
          <a:p>
            <a:pPr marL="228600" indent="-228600">
              <a:spcAft>
                <a:spcPts val="1200"/>
              </a:spcAft>
              <a:buSzPct val="100000"/>
              <a:buChar char="•"/>
            </a:pPr>
            <a:r>
              <a:rPr lang="en-US" sz="1350" dirty="0">
                <a:solidFill>
                  <a:srgbClr val="172622"/>
                </a:solidFill>
                <a:latin typeface="Calibri" pitchFamily="34" charset="0"/>
                <a:ea typeface="Calibri" pitchFamily="34" charset="-122"/>
                <a:cs typeface="Calibri" pitchFamily="34" charset="-120"/>
              </a:rPr>
              <a:t>The gap has to repeat, again and again</a:t>
            </a:r>
            <a:endParaRPr lang="en-US" sz="1350" dirty="0"/>
          </a:p>
          <a:p>
            <a:pPr marL="228600" indent="-228600">
              <a:spcAft>
                <a:spcPts val="1200"/>
              </a:spcAft>
              <a:buSzPct val="100000"/>
              <a:buChar char="•"/>
            </a:pPr>
            <a:r>
              <a:rPr lang="en-US" sz="1350" dirty="0">
                <a:solidFill>
                  <a:srgbClr val="172622"/>
                </a:solidFill>
                <a:latin typeface="Calibri" pitchFamily="34" charset="0"/>
                <a:ea typeface="Calibri" pitchFamily="34" charset="-122"/>
                <a:cs typeface="Calibri" pitchFamily="34" charset="-120"/>
              </a:rPr>
              <a:t>It has to look different from neighboring units</a:t>
            </a:r>
            <a:endParaRPr lang="en-US" sz="1350" dirty="0"/>
          </a:p>
        </p:txBody>
      </p:sp>
      <p:sp>
        <p:nvSpPr>
          <p:cNvPr id="13" name="Text 9"/>
          <p:cNvSpPr/>
          <p:nvPr/>
        </p:nvSpPr>
        <p:spPr>
          <a:xfrm>
            <a:off x="7086600" y="4617720"/>
            <a:ext cx="4206240" cy="1005840"/>
          </a:xfrm>
          <a:prstGeom prst="rect">
            <a:avLst/>
          </a:prstGeom>
          <a:noFill/>
          <a:ln/>
        </p:spPr>
        <p:txBody>
          <a:bodyPr wrap="square" lIns="0" tIns="0" rIns="0" bIns="0" rtlCol="0" anchor="ctr"/>
          <a:lstStyle/>
          <a:p>
            <a:pPr indent="0" marL="0">
              <a:buNone/>
            </a:pPr>
            <a:r>
              <a:rPr lang="en-US" sz="1250" i="1" dirty="0">
                <a:solidFill>
                  <a:srgbClr val="5C6E6A"/>
                </a:solidFill>
                <a:latin typeface="Calibri" pitchFamily="34" charset="0"/>
                <a:ea typeface="Calibri" pitchFamily="34" charset="-122"/>
                <a:cs typeface="Calibri" pitchFamily="34" charset="-120"/>
              </a:rPr>
              <a:t>Otherwise a cloudy Tuesday looks like a broken panel — and that's not a system anyone keeps trusting for long.</a:t>
            </a:r>
            <a:endParaRPr lang="en-US" sz="1250" dirty="0"/>
          </a:p>
        </p:txBody>
      </p:sp>
      <p:sp>
        <p:nvSpPr>
          <p:cNvPr id="14" name="Shape 10"/>
          <p:cNvSpPr/>
          <p:nvPr/>
        </p:nvSpPr>
        <p:spPr>
          <a:xfrm>
            <a:off x="640080" y="4023360"/>
            <a:ext cx="5760720" cy="1463040"/>
          </a:xfrm>
          <a:prstGeom prst="roundRect">
            <a:avLst>
              <a:gd name="adj" fmla="val 6250"/>
            </a:avLst>
          </a:prstGeom>
          <a:solidFill>
            <a:srgbClr val="F6FAF9"/>
          </a:solidFill>
          <a:ln w="12700">
            <a:solidFill>
              <a:srgbClr val="D8E6E3"/>
            </a:solidFill>
            <a:prstDash val="solid"/>
          </a:ln>
        </p:spPr>
        <p:txBody>
          <a:bodyPr/>
          <a:p/>
        </p:txBody>
      </p:sp>
      <p:sp>
        <p:nvSpPr>
          <p:cNvPr id="15" name="Text 11"/>
          <p:cNvSpPr/>
          <p:nvPr/>
        </p:nvSpPr>
        <p:spPr>
          <a:xfrm>
            <a:off x="914400" y="4023360"/>
            <a:ext cx="5212080" cy="1463040"/>
          </a:xfrm>
          <a:prstGeom prst="rect">
            <a:avLst/>
          </a:prstGeom>
          <a:noFill/>
          <a:ln/>
        </p:spPr>
        <p:txBody>
          <a:bodyPr wrap="square" lIns="0" tIns="0" rIns="0" bIns="0" rtlCol="0" anchor="ctr"/>
          <a:lstStyle/>
          <a:p>
            <a:pPr indent="0" marL="0">
              <a:buNone/>
            </a:pPr>
            <a:r>
              <a:rPr lang="en-US" sz="1350" dirty="0">
                <a:solidFill>
                  <a:srgbClr val="172622"/>
                </a:solidFill>
                <a:latin typeface="Calibri" pitchFamily="34" charset="0"/>
                <a:ea typeface="Calibri" pitchFamily="34" charset="-122"/>
                <a:cs typeface="Calibri" pitchFamily="34" charset="-120"/>
              </a:rPr>
              <a:t>Flagged only when the drop is persistent AND unit-specific — never on a single cloudy reading.</a:t>
            </a:r>
            <a:endParaRPr lang="en-US" sz="1350" dirty="0"/>
          </a:p>
        </p:txBody>
      </p:sp>
      <p:sp>
        <p:nvSpPr>
          <p:cNvPr id="16" name="Text 12"/>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17" name="Text 13"/>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13 · MONITORING &amp; LOW-CONNECTIVITY INTERFACE</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Dual-Mode Monitoring Through Dashboard and SMS</a:t>
            </a:r>
            <a:endParaRPr lang="en-US" sz="3200" dirty="0"/>
          </a:p>
        </p:txBody>
      </p:sp>
      <p:sp>
        <p:nvSpPr>
          <p:cNvPr id="4" name="Shape 2"/>
          <p:cNvSpPr/>
          <p:nvPr/>
        </p:nvSpPr>
        <p:spPr>
          <a:xfrm>
            <a:off x="640080" y="1737360"/>
            <a:ext cx="6263640" cy="4160520"/>
          </a:xfrm>
          <a:prstGeom prst="roundRect">
            <a:avLst>
              <a:gd name="adj" fmla="val 2198"/>
            </a:avLst>
          </a:prstGeom>
          <a:solidFill>
            <a:srgbClr val="F6FAF9"/>
          </a:solidFill>
          <a:ln w="12700">
            <a:solidFill>
              <a:srgbClr val="D8E6E3"/>
            </a:solidFill>
            <a:prstDash val="solid"/>
          </a:ln>
        </p:spPr>
        <p:txBody>
          <a:bodyPr/>
          <a:p/>
        </p:txBody>
      </p:sp>
      <p:sp>
        <p:nvSpPr>
          <p:cNvPr id="5" name="Shape 3"/>
          <p:cNvSpPr/>
          <p:nvPr/>
        </p:nvSpPr>
        <p:spPr>
          <a:xfrm>
            <a:off x="914400" y="1965960"/>
            <a:ext cx="548640" cy="548640"/>
          </a:xfrm>
          <a:prstGeom prst="ellipse">
            <a:avLst/>
          </a:prstGeom>
          <a:solidFill>
            <a:srgbClr val="0B4F4A"/>
          </a:solidFill>
          <a:ln/>
        </p:spPr>
        <p:txBody>
          <a:bodyPr/>
          <a:p/>
        </p:txBody>
      </p:sp>
      <p:pic>
        <p:nvPicPr>
          <p:cNvPr id="6" name="Image 0" descr="/home/claude/icons/dashboard.png">    </p:cNvPr>
          <p:cNvPicPr>
            <a:picLocks noChangeAspect="1"/>
          </p:cNvPicPr>
          <p:nvPr/>
        </p:nvPicPr>
        <p:blipFill>
          <a:blip r:embed="rId1"/>
          <a:stretch>
            <a:fillRect/>
          </a:stretch>
        </p:blipFill>
        <p:spPr>
          <a:xfrm>
            <a:off x="1051560" y="2103120"/>
            <a:ext cx="274320" cy="274320"/>
          </a:xfrm>
          <a:prstGeom prst="rect">
            <a:avLst/>
          </a:prstGeom>
        </p:spPr>
      </p:pic>
      <p:sp>
        <p:nvSpPr>
          <p:cNvPr id="7" name="Text 4"/>
          <p:cNvSpPr/>
          <p:nvPr/>
        </p:nvSpPr>
        <p:spPr>
          <a:xfrm>
            <a:off x="1600200" y="2029968"/>
            <a:ext cx="2743200" cy="411480"/>
          </a:xfrm>
          <a:prstGeom prst="rect">
            <a:avLst/>
          </a:prstGeom>
          <a:noFill/>
          <a:ln/>
        </p:spPr>
        <p:txBody>
          <a:bodyPr wrap="square" lIns="0" tIns="0" rIns="0" bIns="0" rtlCol="0" anchor="ctr"/>
          <a:lstStyle/>
          <a:p>
            <a:pPr indent="0" marL="0">
              <a:buNone/>
            </a:pPr>
            <a:r>
              <a:rPr lang="en-US" sz="1600" b="1" dirty="0">
                <a:solidFill>
                  <a:srgbClr val="172622"/>
                </a:solidFill>
                <a:latin typeface="Cambria" pitchFamily="34" charset="0"/>
                <a:ea typeface="Cambria" pitchFamily="34" charset="-122"/>
                <a:cs typeface="Cambria" pitchFamily="34" charset="-120"/>
              </a:rPr>
              <a:t>Live dashboard</a:t>
            </a:r>
            <a:endParaRPr lang="en-US" sz="1600" dirty="0"/>
          </a:p>
        </p:txBody>
      </p:sp>
      <p:sp>
        <p:nvSpPr>
          <p:cNvPr id="8" name="Shape 5"/>
          <p:cNvSpPr/>
          <p:nvPr/>
        </p:nvSpPr>
        <p:spPr>
          <a:xfrm>
            <a:off x="914400" y="2697480"/>
            <a:ext cx="1783080" cy="960120"/>
          </a:xfrm>
          <a:prstGeom prst="roundRect">
            <a:avLst>
              <a:gd name="adj" fmla="val 7619"/>
            </a:avLst>
          </a:prstGeom>
          <a:solidFill>
            <a:srgbClr val="FFFFFF"/>
          </a:solidFill>
          <a:ln w="12700">
            <a:solidFill>
              <a:srgbClr val="D8E6E3"/>
            </a:solidFill>
            <a:prstDash val="solid"/>
          </a:ln>
        </p:spPr>
        <p:txBody>
          <a:bodyPr/>
          <a:p/>
        </p:txBody>
      </p:sp>
      <p:sp>
        <p:nvSpPr>
          <p:cNvPr id="9" name="Shape 6"/>
          <p:cNvSpPr/>
          <p:nvPr/>
        </p:nvSpPr>
        <p:spPr>
          <a:xfrm>
            <a:off x="1078992" y="2880360"/>
            <a:ext cx="201168" cy="201168"/>
          </a:xfrm>
          <a:prstGeom prst="ellipse">
            <a:avLst/>
          </a:prstGeom>
          <a:solidFill>
            <a:srgbClr val="B9791C"/>
          </a:solidFill>
          <a:ln/>
        </p:spPr>
        <p:txBody>
          <a:bodyPr/>
          <a:p/>
        </p:txBody>
      </p:sp>
      <p:sp>
        <p:nvSpPr>
          <p:cNvPr id="10" name="Text 7"/>
          <p:cNvSpPr/>
          <p:nvPr/>
        </p:nvSpPr>
        <p:spPr>
          <a:xfrm>
            <a:off x="1051560" y="3200400"/>
            <a:ext cx="1508760" cy="365760"/>
          </a:xfrm>
          <a:prstGeom prst="rect">
            <a:avLst/>
          </a:prstGeom>
          <a:noFill/>
          <a:ln/>
        </p:spPr>
        <p:txBody>
          <a:bodyPr wrap="square" lIns="0" tIns="0" rIns="0" bIns="0" rtlCol="0" anchor="ctr"/>
          <a:lstStyle/>
          <a:p>
            <a:pPr indent="0" marL="0">
              <a:buNone/>
            </a:pPr>
            <a:r>
              <a:rPr lang="en-US" sz="1150" b="1" dirty="0">
                <a:solidFill>
                  <a:srgbClr val="172622"/>
                </a:solidFill>
                <a:latin typeface="Calibri" pitchFamily="34" charset="0"/>
                <a:ea typeface="Calibri" pitchFamily="34" charset="-122"/>
                <a:cs typeface="Calibri" pitchFamily="34" charset="-120"/>
              </a:rPr>
              <a:t>Cost</a:t>
            </a:r>
            <a:endParaRPr lang="en-US" sz="1150" dirty="0"/>
          </a:p>
        </p:txBody>
      </p:sp>
      <p:sp>
        <p:nvSpPr>
          <p:cNvPr id="11" name="Shape 8"/>
          <p:cNvSpPr/>
          <p:nvPr/>
        </p:nvSpPr>
        <p:spPr>
          <a:xfrm>
            <a:off x="2834640" y="2697480"/>
            <a:ext cx="1783080" cy="960120"/>
          </a:xfrm>
          <a:prstGeom prst="roundRect">
            <a:avLst>
              <a:gd name="adj" fmla="val 7619"/>
            </a:avLst>
          </a:prstGeom>
          <a:solidFill>
            <a:srgbClr val="FFFFFF"/>
          </a:solidFill>
          <a:ln w="12700">
            <a:solidFill>
              <a:srgbClr val="D8E6E3"/>
            </a:solidFill>
            <a:prstDash val="solid"/>
          </a:ln>
        </p:spPr>
        <p:txBody>
          <a:bodyPr/>
          <a:p/>
        </p:txBody>
      </p:sp>
      <p:sp>
        <p:nvSpPr>
          <p:cNvPr id="12" name="Shape 9"/>
          <p:cNvSpPr/>
          <p:nvPr/>
        </p:nvSpPr>
        <p:spPr>
          <a:xfrm>
            <a:off x="2999232" y="2880360"/>
            <a:ext cx="201168" cy="201168"/>
          </a:xfrm>
          <a:prstGeom prst="ellipse">
            <a:avLst/>
          </a:prstGeom>
          <a:solidFill>
            <a:srgbClr val="129490"/>
          </a:solidFill>
          <a:ln/>
        </p:spPr>
        <p:txBody>
          <a:bodyPr/>
          <a:p/>
        </p:txBody>
      </p:sp>
      <p:sp>
        <p:nvSpPr>
          <p:cNvPr id="13" name="Text 10"/>
          <p:cNvSpPr/>
          <p:nvPr/>
        </p:nvSpPr>
        <p:spPr>
          <a:xfrm>
            <a:off x="2971800" y="3200400"/>
            <a:ext cx="1508760" cy="365760"/>
          </a:xfrm>
          <a:prstGeom prst="rect">
            <a:avLst/>
          </a:prstGeom>
          <a:noFill/>
          <a:ln/>
        </p:spPr>
        <p:txBody>
          <a:bodyPr wrap="square" lIns="0" tIns="0" rIns="0" bIns="0" rtlCol="0" anchor="ctr"/>
          <a:lstStyle/>
          <a:p>
            <a:pPr indent="0" marL="0">
              <a:buNone/>
            </a:pPr>
            <a:r>
              <a:rPr lang="en-US" sz="1150" b="1" dirty="0">
                <a:solidFill>
                  <a:srgbClr val="172622"/>
                </a:solidFill>
                <a:latin typeface="Calibri" pitchFamily="34" charset="0"/>
                <a:ea typeface="Calibri" pitchFamily="34" charset="-122"/>
                <a:cs typeface="Calibri" pitchFamily="34" charset="-120"/>
              </a:rPr>
              <a:t>CO2 avoided</a:t>
            </a:r>
            <a:endParaRPr lang="en-US" sz="1150" dirty="0"/>
          </a:p>
        </p:txBody>
      </p:sp>
      <p:sp>
        <p:nvSpPr>
          <p:cNvPr id="14" name="Shape 11"/>
          <p:cNvSpPr/>
          <p:nvPr/>
        </p:nvSpPr>
        <p:spPr>
          <a:xfrm>
            <a:off x="4754880" y="2697480"/>
            <a:ext cx="1783080" cy="960120"/>
          </a:xfrm>
          <a:prstGeom prst="roundRect">
            <a:avLst>
              <a:gd name="adj" fmla="val 7619"/>
            </a:avLst>
          </a:prstGeom>
          <a:solidFill>
            <a:srgbClr val="FFFFFF"/>
          </a:solidFill>
          <a:ln w="12700">
            <a:solidFill>
              <a:srgbClr val="D8E6E3"/>
            </a:solidFill>
            <a:prstDash val="solid"/>
          </a:ln>
        </p:spPr>
        <p:txBody>
          <a:bodyPr/>
          <a:p/>
        </p:txBody>
      </p:sp>
      <p:sp>
        <p:nvSpPr>
          <p:cNvPr id="15" name="Shape 12"/>
          <p:cNvSpPr/>
          <p:nvPr/>
        </p:nvSpPr>
        <p:spPr>
          <a:xfrm>
            <a:off x="4919472" y="2880360"/>
            <a:ext cx="201168" cy="201168"/>
          </a:xfrm>
          <a:prstGeom prst="ellipse">
            <a:avLst/>
          </a:prstGeom>
          <a:solidFill>
            <a:srgbClr val="0B4F4A"/>
          </a:solidFill>
          <a:ln/>
        </p:spPr>
        <p:txBody>
          <a:bodyPr/>
          <a:p/>
        </p:txBody>
      </p:sp>
      <p:sp>
        <p:nvSpPr>
          <p:cNvPr id="16" name="Text 13"/>
          <p:cNvSpPr/>
          <p:nvPr/>
        </p:nvSpPr>
        <p:spPr>
          <a:xfrm>
            <a:off x="4892040" y="3200400"/>
            <a:ext cx="1508760" cy="365760"/>
          </a:xfrm>
          <a:prstGeom prst="rect">
            <a:avLst/>
          </a:prstGeom>
          <a:noFill/>
          <a:ln/>
        </p:spPr>
        <p:txBody>
          <a:bodyPr wrap="square" lIns="0" tIns="0" rIns="0" bIns="0" rtlCol="0" anchor="ctr"/>
          <a:lstStyle/>
          <a:p>
            <a:pPr indent="0" marL="0">
              <a:buNone/>
            </a:pPr>
            <a:r>
              <a:rPr lang="en-US" sz="1150" b="1" dirty="0">
                <a:solidFill>
                  <a:srgbClr val="172622"/>
                </a:solidFill>
                <a:latin typeface="Calibri" pitchFamily="34" charset="0"/>
                <a:ea typeface="Calibri" pitchFamily="34" charset="-122"/>
                <a:cs typeface="Calibri" pitchFamily="34" charset="-120"/>
              </a:rPr>
              <a:t>Reliability</a:t>
            </a:r>
            <a:endParaRPr lang="en-US" sz="1150" dirty="0"/>
          </a:p>
        </p:txBody>
      </p:sp>
      <p:sp>
        <p:nvSpPr>
          <p:cNvPr id="17" name="Text 14"/>
          <p:cNvSpPr/>
          <p:nvPr/>
        </p:nvSpPr>
        <p:spPr>
          <a:xfrm>
            <a:off x="914400" y="3886200"/>
            <a:ext cx="5669280" cy="868680"/>
          </a:xfrm>
          <a:prstGeom prst="rect">
            <a:avLst/>
          </a:prstGeom>
          <a:noFill/>
          <a:ln/>
        </p:spPr>
        <p:txBody>
          <a:bodyPr wrap="square" lIns="0" tIns="0" rIns="0" bIns="0" rtlCol="0" anchor="ctr"/>
          <a:lstStyle/>
          <a:p>
            <a:pPr indent="0" marL="0">
              <a:buNone/>
            </a:pPr>
            <a:r>
              <a:rPr lang="en-US" sz="1250" b="1" dirty="0">
                <a:solidFill>
                  <a:srgbClr val="172622"/>
                </a:solidFill>
                <a:latin typeface="Calibri" pitchFamily="34" charset="0"/>
                <a:ea typeface="Calibri" pitchFamily="34" charset="-122"/>
                <a:cs typeface="Calibri" pitchFamily="34" charset="-120"/>
              </a:rPr>
              <a:t>What-if simulator  </a:t>
            </a:r>
            <a:pPr indent="0" marL="0">
              <a:buNone/>
            </a:pPr>
            <a:r>
              <a:rPr lang="en-US" sz="1250" dirty="0">
                <a:solidFill>
                  <a:srgbClr val="5C6E6A"/>
                </a:solidFill>
                <a:latin typeface="Calibri" pitchFamily="34" charset="0"/>
                <a:ea typeface="Calibri" pitchFamily="34" charset="-122"/>
                <a:cs typeface="Calibri" pitchFamily="34" charset="-120"/>
              </a:rPr>
              <a:t>— type "three cloudy days in a row" and watch battery and diesel respond before it happens.</a:t>
            </a:r>
            <a:endParaRPr lang="en-US" sz="1250" dirty="0"/>
          </a:p>
        </p:txBody>
      </p:sp>
      <p:sp>
        <p:nvSpPr>
          <p:cNvPr id="18" name="Text 15"/>
          <p:cNvSpPr/>
          <p:nvPr/>
        </p:nvSpPr>
        <p:spPr>
          <a:xfrm>
            <a:off x="914400" y="4800600"/>
            <a:ext cx="5669280" cy="914400"/>
          </a:xfrm>
          <a:prstGeom prst="rect">
            <a:avLst/>
          </a:prstGeom>
          <a:noFill/>
          <a:ln/>
        </p:spPr>
        <p:txBody>
          <a:bodyPr wrap="square" lIns="0" tIns="0" rIns="0" bIns="0" rtlCol="0" anchor="ctr"/>
          <a:lstStyle/>
          <a:p>
            <a:pPr indent="0" marL="0">
              <a:buNone/>
            </a:pPr>
            <a:r>
              <a:rPr lang="en-US" sz="1250" b="1" dirty="0">
                <a:solidFill>
                  <a:srgbClr val="172622"/>
                </a:solidFill>
                <a:latin typeface="Calibri" pitchFamily="34" charset="0"/>
                <a:ea typeface="Calibri" pitchFamily="34" charset="-122"/>
                <a:cs typeface="Calibri" pitchFamily="34" charset="-120"/>
              </a:rPr>
              <a:t>Historical replay  </a:t>
            </a:r>
            <a:pPr indent="0" marL="0">
              <a:buNone/>
            </a:pPr>
            <a:r>
              <a:rPr lang="en-US" sz="1250" dirty="0">
                <a:solidFill>
                  <a:srgbClr val="5C6E6A"/>
                </a:solidFill>
                <a:latin typeface="Calibri" pitchFamily="34" charset="0"/>
                <a:ea typeface="Calibri" pitchFamily="34" charset="-122"/>
                <a:cs typeface="Calibri" pitchFamily="34" charset="-120"/>
              </a:rPr>
              <a:t>— runs real past weather &amp; load through the optimizer for a genuine before-and-after.</a:t>
            </a:r>
            <a:endParaRPr lang="en-US" sz="1250" dirty="0"/>
          </a:p>
        </p:txBody>
      </p:sp>
      <p:sp>
        <p:nvSpPr>
          <p:cNvPr id="19" name="Shape 16"/>
          <p:cNvSpPr/>
          <p:nvPr/>
        </p:nvSpPr>
        <p:spPr>
          <a:xfrm>
            <a:off x="7178040" y="1737360"/>
            <a:ext cx="4343400" cy="4160520"/>
          </a:xfrm>
          <a:prstGeom prst="roundRect">
            <a:avLst>
              <a:gd name="adj" fmla="val 2198"/>
            </a:avLst>
          </a:prstGeom>
          <a:solidFill>
            <a:srgbClr val="0B4F4A"/>
          </a:solidFill>
          <a:ln/>
        </p:spPr>
        <p:txBody>
          <a:bodyPr/>
          <a:p/>
        </p:txBody>
      </p:sp>
      <p:sp>
        <p:nvSpPr>
          <p:cNvPr id="20" name="Shape 17"/>
          <p:cNvSpPr/>
          <p:nvPr/>
        </p:nvSpPr>
        <p:spPr>
          <a:xfrm>
            <a:off x="7452360" y="1965960"/>
            <a:ext cx="548640" cy="548640"/>
          </a:xfrm>
          <a:prstGeom prst="ellipse">
            <a:avLst/>
          </a:prstGeom>
          <a:solidFill>
            <a:srgbClr val="E8A33D"/>
          </a:solidFill>
          <a:ln/>
        </p:spPr>
        <p:txBody>
          <a:bodyPr/>
          <a:p/>
        </p:txBody>
      </p:sp>
      <p:pic>
        <p:nvPicPr>
          <p:cNvPr id="21" name="Image 1" descr="/home/claude/icons/sms.png">    </p:cNvPr>
          <p:cNvPicPr>
            <a:picLocks noChangeAspect="1"/>
          </p:cNvPicPr>
          <p:nvPr/>
        </p:nvPicPr>
        <p:blipFill>
          <a:blip r:embed="rId2"/>
          <a:stretch>
            <a:fillRect/>
          </a:stretch>
        </p:blipFill>
        <p:spPr>
          <a:xfrm>
            <a:off x="7589520" y="2103120"/>
            <a:ext cx="274320" cy="274320"/>
          </a:xfrm>
          <a:prstGeom prst="rect">
            <a:avLst/>
          </a:prstGeom>
        </p:spPr>
      </p:pic>
      <p:sp>
        <p:nvSpPr>
          <p:cNvPr id="22" name="Text 18"/>
          <p:cNvSpPr/>
          <p:nvPr/>
        </p:nvSpPr>
        <p:spPr>
          <a:xfrm>
            <a:off x="8138160" y="2029968"/>
            <a:ext cx="320040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One plain SMS</a:t>
            </a:r>
            <a:endParaRPr lang="en-US" sz="1600" dirty="0"/>
          </a:p>
        </p:txBody>
      </p:sp>
      <p:sp>
        <p:nvSpPr>
          <p:cNvPr id="23" name="Shape 19"/>
          <p:cNvSpPr/>
          <p:nvPr/>
        </p:nvSpPr>
        <p:spPr>
          <a:xfrm>
            <a:off x="7498080" y="2788920"/>
            <a:ext cx="3703320" cy="1417320"/>
          </a:xfrm>
          <a:prstGeom prst="roundRect">
            <a:avLst>
              <a:gd name="adj" fmla="val 9032"/>
            </a:avLst>
          </a:prstGeom>
          <a:solidFill>
            <a:srgbClr val="FFFFFF"/>
          </a:solidFill>
          <a:ln/>
        </p:spPr>
        <p:txBody>
          <a:bodyPr/>
          <a:p/>
        </p:txBody>
      </p:sp>
      <p:sp>
        <p:nvSpPr>
          <p:cNvPr id="24" name="Text 20"/>
          <p:cNvSpPr/>
          <p:nvPr/>
        </p:nvSpPr>
        <p:spPr>
          <a:xfrm>
            <a:off x="7680960" y="2788920"/>
            <a:ext cx="3337560" cy="1417320"/>
          </a:xfrm>
          <a:prstGeom prst="rect">
            <a:avLst/>
          </a:prstGeom>
          <a:noFill/>
          <a:ln/>
        </p:spPr>
        <p:txBody>
          <a:bodyPr wrap="square" lIns="0" tIns="0" rIns="0" bIns="0" rtlCol="0" anchor="ctr"/>
          <a:lstStyle/>
          <a:p>
            <a:pPr indent="0" marL="0">
              <a:buNone/>
            </a:pPr>
            <a:r>
              <a:rPr lang="en-US" sz="1250" i="1" dirty="0">
                <a:solidFill>
                  <a:srgbClr val="172622"/>
                </a:solidFill>
                <a:latin typeface="Calibri" pitchFamily="34" charset="0"/>
                <a:ea typeface="Calibri" pitchFamily="34" charset="-122"/>
                <a:cs typeface="Calibri" pitchFamily="34" charset="-120"/>
              </a:rPr>
              <a:t>"Diesel running, battery 15%, switching to solar around 2 PM."</a:t>
            </a:r>
            <a:endParaRPr lang="en-US" sz="1250" dirty="0"/>
          </a:p>
        </p:txBody>
      </p:sp>
      <p:sp>
        <p:nvSpPr>
          <p:cNvPr id="25" name="Text 21"/>
          <p:cNvSpPr/>
          <p:nvPr/>
        </p:nvSpPr>
        <p:spPr>
          <a:xfrm>
            <a:off x="7452360" y="4434840"/>
            <a:ext cx="3794760" cy="1280160"/>
          </a:xfrm>
          <a:prstGeom prst="rect">
            <a:avLst/>
          </a:prstGeom>
          <a:noFill/>
          <a:ln/>
        </p:spPr>
        <p:txBody>
          <a:bodyPr wrap="square" lIns="0" tIns="0" rIns="0" bIns="0" rtlCol="0" anchor="ctr"/>
          <a:lstStyle/>
          <a:p>
            <a:pPr indent="0" marL="0">
              <a:buNone/>
            </a:pPr>
            <a:r>
              <a:rPr lang="en-US" sz="1250" dirty="0">
                <a:solidFill>
                  <a:srgbClr val="D9EDE9"/>
                </a:solidFill>
                <a:latin typeface="Calibri" pitchFamily="34" charset="0"/>
                <a:ea typeface="Calibri" pitchFamily="34" charset="-122"/>
                <a:cs typeface="Calibri" pitchFamily="34" charset="-120"/>
              </a:rPr>
              <a:t>Same information, same explanation — because a chunk of real users won't have a working smartphone on them.</a:t>
            </a:r>
            <a:endParaRPr lang="en-US" sz="1250" dirty="0"/>
          </a:p>
        </p:txBody>
      </p:sp>
      <p:sp>
        <p:nvSpPr>
          <p:cNvPr id="26" name="Text 22"/>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27" name="Text 23"/>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lIns="0" tIns="0" rIns="0" bIns="0" rtlCol="0" anchor="ctr"/>
          <a:lstStyle/>
          <a:p>
            <a:pPr indent="0" marL="0">
              <a:buNone/>
            </a:pPr>
            <a:r>
              <a:rPr b="1"/>
              <a:t>14 · TECHNOLOGY STACK</a:t>
            </a:r>
            <a:endParaRPr lang="en-US" sz="1300" dirty="0"/>
          </a:p>
        </p:txBody>
      </p:sp>
      <p:sp>
        <p:nvSpPr>
          <p:cNvPr id="3" name="Text 1"/>
          <p:cNvSpPr/>
          <p:nvPr/>
        </p:nvSpPr>
        <p:spPr>
          <a:xfrm>
            <a:off x="640080" y="685800"/>
            <a:ext cx="10789920" cy="822960"/>
          </a:xfrm>
          <a:prstGeom prst="rect">
            <a:avLst/>
          </a:prstGeom>
          <a:noFill/>
          <a:ln/>
        </p:spPr>
        <p:txBody>
          <a:bodyPr wrap="square" lIns="0" tIns="0" rIns="0" bIns="0" rtlCol="0" anchor="ctr"/>
          <a:lstStyle/>
          <a:p>
            <a:pPr indent="0" marL="0">
              <a:buNone/>
            </a:pPr>
            <a:r>
              <a:rPr b="1"/>
              <a:t>Technology Components for Reliable and Scalable Deployment</a:t>
            </a:r>
            <a:endParaRPr lang="en-US" sz="3200" dirty="0"/>
          </a:p>
        </p:txBody>
      </p:sp>
      <p:sp>
        <p:nvSpPr>
          <p:cNvPr id="4" name="Shape 2"/>
          <p:cNvSpPr/>
          <p:nvPr/>
        </p:nvSpPr>
        <p:spPr>
          <a:xfrm>
            <a:off x="640080" y="1691640"/>
            <a:ext cx="3502152" cy="1828800"/>
          </a:xfrm>
          <a:prstGeom prst="roundRect">
            <a:avLst>
              <a:gd name="adj" fmla="val 4500"/>
            </a:avLst>
          </a:prstGeom>
          <a:solidFill>
            <a:srgbClr val="F6FAF9"/>
          </a:solidFill>
          <a:ln w="12700">
            <a:solidFill>
              <a:srgbClr val="D8E6E3"/>
            </a:solidFill>
            <a:prstDash val="solid"/>
          </a:ln>
        </p:spPr>
        <p:txBody>
          <a:bodyPr/>
          <a:p/>
        </p:txBody>
      </p:sp>
      <p:sp>
        <p:nvSpPr>
          <p:cNvPr id="5" name="Shape 3"/>
          <p:cNvSpPr/>
          <p:nvPr/>
        </p:nvSpPr>
        <p:spPr>
          <a:xfrm>
            <a:off x="896112" y="1965960"/>
            <a:ext cx="566928" cy="566928"/>
          </a:xfrm>
          <a:prstGeom prst="ellipse">
            <a:avLst/>
          </a:prstGeom>
          <a:solidFill>
            <a:srgbClr val="0B4F4A"/>
          </a:solidFill>
          <a:ln/>
        </p:spPr>
        <p:txBody>
          <a:bodyPr/>
          <a:p/>
        </p:txBody>
      </p:sp>
      <p:pic>
        <p:nvPicPr>
          <p:cNvPr id="6" name="Image 0" descr="/home/claude/icons/server.png">    </p:cNvPr>
          <p:cNvPicPr>
            <a:picLocks noChangeAspect="1"/>
          </p:cNvPicPr>
          <p:nvPr/>
        </p:nvPicPr>
        <p:blipFill>
          <a:blip r:embed="rId1"/>
          <a:stretch>
            <a:fillRect/>
          </a:stretch>
        </p:blipFill>
        <p:spPr>
          <a:xfrm>
            <a:off x="1037844" y="2107692"/>
            <a:ext cx="283464" cy="283464"/>
          </a:xfrm>
          <a:prstGeom prst="rect">
            <a:avLst/>
          </a:prstGeom>
        </p:spPr>
      </p:pic>
      <p:sp>
        <p:nvSpPr>
          <p:cNvPr id="7" name="Text 4"/>
          <p:cNvSpPr/>
          <p:nvPr/>
        </p:nvSpPr>
        <p:spPr>
          <a:xfrm>
            <a:off x="1600200" y="1947672"/>
            <a:ext cx="2313432" cy="365760"/>
          </a:xfrm>
          <a:prstGeom prst="rect">
            <a:avLst/>
          </a:prstGeom>
          <a:noFill/>
          <a:ln/>
        </p:spPr>
        <p:txBody>
          <a:bodyPr wrap="square" lIns="0" tIns="0" rIns="0" bIns="0" rtlCol="0" anchor="ctr"/>
          <a:lstStyle/>
          <a:p>
            <a:pPr indent="0" marL="0">
              <a:buNone/>
            </a:pPr>
            <a:r>
              <a:rPr lang="en-US" sz="1500" b="1" dirty="0">
                <a:solidFill>
                  <a:srgbClr val="172622"/>
                </a:solidFill>
                <a:latin typeface="Cambria" pitchFamily="34" charset="0"/>
                <a:ea typeface="Cambria" pitchFamily="34" charset="-122"/>
                <a:cs typeface="Cambria" pitchFamily="34" charset="-120"/>
              </a:rPr>
              <a:t>Core</a:t>
            </a:r>
            <a:endParaRPr lang="en-US" sz="1500" dirty="0"/>
          </a:p>
        </p:txBody>
      </p:sp>
      <p:sp>
        <p:nvSpPr>
          <p:cNvPr id="8" name="Text 5"/>
          <p:cNvSpPr/>
          <p:nvPr/>
        </p:nvSpPr>
        <p:spPr>
          <a:xfrm>
            <a:off x="896112" y="2651760"/>
            <a:ext cx="2999232" cy="777240"/>
          </a:xfrm>
          <a:prstGeom prst="rect">
            <a:avLst/>
          </a:prstGeom>
          <a:noFill/>
          <a:ln/>
        </p:spPr>
        <p:txBody>
          <a:bodyPr wrap="square" lIns="0" tIns="0" rIns="0" bIns="0" rtlCol="0" anchor="ctr"/>
          <a:lstStyle/>
          <a:p>
            <a:pPr indent="0" marL="0">
              <a:buNone/>
            </a:pPr>
            <a:r>
              <a:rPr lang="en-US" sz="1200" dirty="0">
                <a:solidFill>
                  <a:srgbClr val="5C6E6A"/>
                </a:solidFill>
                <a:latin typeface="Calibri" pitchFamily="34" charset="0"/>
                <a:ea typeface="Calibri" pitchFamily="34" charset="-122"/>
                <a:cs typeface="Calibri" pitchFamily="34" charset="-120"/>
              </a:rPr>
              <a:t>Python — optimization &amp; forecasting</a:t>
            </a:r>
            <a:endParaRPr lang="en-US" sz="1200" dirty="0"/>
          </a:p>
        </p:txBody>
      </p:sp>
      <p:sp>
        <p:nvSpPr>
          <p:cNvPr id="9" name="Shape 6"/>
          <p:cNvSpPr/>
          <p:nvPr/>
        </p:nvSpPr>
        <p:spPr>
          <a:xfrm>
            <a:off x="4370832" y="1691640"/>
            <a:ext cx="3502152" cy="1828800"/>
          </a:xfrm>
          <a:prstGeom prst="roundRect">
            <a:avLst>
              <a:gd name="adj" fmla="val 4500"/>
            </a:avLst>
          </a:prstGeom>
          <a:solidFill>
            <a:srgbClr val="F6FAF9"/>
          </a:solidFill>
          <a:ln w="12700">
            <a:solidFill>
              <a:srgbClr val="D8E6E3"/>
            </a:solidFill>
            <a:prstDash val="solid"/>
          </a:ln>
        </p:spPr>
        <p:txBody>
          <a:bodyPr/>
          <a:p/>
        </p:txBody>
      </p:sp>
      <p:sp>
        <p:nvSpPr>
          <p:cNvPr id="10" name="Shape 7"/>
          <p:cNvSpPr/>
          <p:nvPr/>
        </p:nvSpPr>
        <p:spPr>
          <a:xfrm>
            <a:off x="4626864" y="1965960"/>
            <a:ext cx="566928" cy="566928"/>
          </a:xfrm>
          <a:prstGeom prst="ellipse">
            <a:avLst/>
          </a:prstGeom>
          <a:solidFill>
            <a:srgbClr val="129490"/>
          </a:solidFill>
          <a:ln/>
        </p:spPr>
        <p:txBody>
          <a:bodyPr/>
          <a:p/>
        </p:txBody>
      </p:sp>
      <p:pic>
        <p:nvPicPr>
          <p:cNvPr id="11" name="Image 1" descr="/home/claude/icons/cogs.png">    </p:cNvPr>
          <p:cNvPicPr>
            <a:picLocks noChangeAspect="1"/>
          </p:cNvPicPr>
          <p:nvPr/>
        </p:nvPicPr>
        <p:blipFill>
          <a:blip r:embed="rId2"/>
          <a:stretch>
            <a:fillRect/>
          </a:stretch>
        </p:blipFill>
        <p:spPr>
          <a:xfrm>
            <a:off x="4768596" y="2107692"/>
            <a:ext cx="283464" cy="283464"/>
          </a:xfrm>
          <a:prstGeom prst="rect">
            <a:avLst/>
          </a:prstGeom>
        </p:spPr>
      </p:pic>
      <p:sp>
        <p:nvSpPr>
          <p:cNvPr id="12" name="Text 8"/>
          <p:cNvSpPr/>
          <p:nvPr/>
        </p:nvSpPr>
        <p:spPr>
          <a:xfrm>
            <a:off x="5330952" y="1947672"/>
            <a:ext cx="2313432" cy="365760"/>
          </a:xfrm>
          <a:prstGeom prst="rect">
            <a:avLst/>
          </a:prstGeom>
          <a:noFill/>
          <a:ln/>
        </p:spPr>
        <p:txBody>
          <a:bodyPr wrap="square" lIns="0" tIns="0" rIns="0" bIns="0" rtlCol="0" anchor="ctr"/>
          <a:lstStyle/>
          <a:p>
            <a:pPr indent="0" marL="0">
              <a:buNone/>
            </a:pPr>
            <a:r>
              <a:rPr lang="en-US" sz="1500" b="1" dirty="0">
                <a:solidFill>
                  <a:srgbClr val="172622"/>
                </a:solidFill>
                <a:latin typeface="Cambria" pitchFamily="34" charset="0"/>
                <a:ea typeface="Cambria" pitchFamily="34" charset="-122"/>
                <a:cs typeface="Cambria" pitchFamily="34" charset="-120"/>
              </a:rPr>
              <a:t>Solver</a:t>
            </a:r>
            <a:endParaRPr lang="en-US" sz="1500" dirty="0"/>
          </a:p>
        </p:txBody>
      </p:sp>
      <p:sp>
        <p:nvSpPr>
          <p:cNvPr id="13" name="Text 9"/>
          <p:cNvSpPr/>
          <p:nvPr/>
        </p:nvSpPr>
        <p:spPr>
          <a:xfrm>
            <a:off x="4626864" y="2651760"/>
            <a:ext cx="2999232" cy="777240"/>
          </a:xfrm>
          <a:prstGeom prst="rect">
            <a:avLst/>
          </a:prstGeom>
          <a:noFill/>
          <a:ln/>
        </p:spPr>
        <p:txBody>
          <a:bodyPr wrap="square" lIns="0" tIns="0" rIns="0" bIns="0" rtlCol="0" anchor="ctr"/>
          <a:lstStyle/>
          <a:p>
            <a:pPr indent="0" marL="0">
              <a:buNone/>
            </a:pPr>
            <a:r>
              <a:rPr lang="en-US" sz="1200" dirty="0">
                <a:solidFill>
                  <a:srgbClr val="5C6E6A"/>
                </a:solidFill>
                <a:latin typeface="Calibri" pitchFamily="34" charset="0"/>
                <a:ea typeface="Calibri" pitchFamily="34" charset="-122"/>
                <a:cs typeface="Calibri" pitchFamily="34" charset="-120"/>
              </a:rPr>
              <a:t>PuLP or scipy</a:t>
            </a:r>
            <a:endParaRPr lang="en-US" sz="1200" dirty="0"/>
          </a:p>
        </p:txBody>
      </p:sp>
      <p:sp>
        <p:nvSpPr>
          <p:cNvPr id="14" name="Shape 10"/>
          <p:cNvSpPr/>
          <p:nvPr/>
        </p:nvSpPr>
        <p:spPr>
          <a:xfrm>
            <a:off x="8101584" y="1691640"/>
            <a:ext cx="3502152" cy="1828800"/>
          </a:xfrm>
          <a:prstGeom prst="roundRect">
            <a:avLst>
              <a:gd name="adj" fmla="val 4500"/>
            </a:avLst>
          </a:prstGeom>
          <a:solidFill>
            <a:srgbClr val="F6FAF9"/>
          </a:solidFill>
          <a:ln w="12700">
            <a:solidFill>
              <a:srgbClr val="D8E6E3"/>
            </a:solidFill>
            <a:prstDash val="solid"/>
          </a:ln>
        </p:spPr>
        <p:txBody>
          <a:bodyPr/>
          <a:p/>
        </p:txBody>
      </p:sp>
      <p:sp>
        <p:nvSpPr>
          <p:cNvPr id="15" name="Shape 11"/>
          <p:cNvSpPr/>
          <p:nvPr/>
        </p:nvSpPr>
        <p:spPr>
          <a:xfrm>
            <a:off x="8357616" y="1965960"/>
            <a:ext cx="566928" cy="566928"/>
          </a:xfrm>
          <a:prstGeom prst="ellipse">
            <a:avLst/>
          </a:prstGeom>
          <a:solidFill>
            <a:srgbClr val="0B4F4A"/>
          </a:solidFill>
          <a:ln/>
        </p:spPr>
        <p:txBody>
          <a:bodyPr/>
          <a:p/>
        </p:txBody>
      </p:sp>
      <p:pic>
        <p:nvPicPr>
          <p:cNvPr id="16" name="Image 2" descr="/home/claude/icons/satellite.png">    </p:cNvPr>
          <p:cNvPicPr>
            <a:picLocks noChangeAspect="1"/>
          </p:cNvPicPr>
          <p:nvPr/>
        </p:nvPicPr>
        <p:blipFill>
          <a:blip r:embed="rId3"/>
          <a:stretch>
            <a:fillRect/>
          </a:stretch>
        </p:blipFill>
        <p:spPr>
          <a:xfrm>
            <a:off x="8499348" y="2107692"/>
            <a:ext cx="283464" cy="283464"/>
          </a:xfrm>
          <a:prstGeom prst="rect">
            <a:avLst/>
          </a:prstGeom>
        </p:spPr>
      </p:pic>
      <p:sp>
        <p:nvSpPr>
          <p:cNvPr id="17" name="Text 12"/>
          <p:cNvSpPr/>
          <p:nvPr/>
        </p:nvSpPr>
        <p:spPr>
          <a:xfrm>
            <a:off x="9061704" y="1947672"/>
            <a:ext cx="2313432" cy="365760"/>
          </a:xfrm>
          <a:prstGeom prst="rect">
            <a:avLst/>
          </a:prstGeom>
          <a:noFill/>
          <a:ln/>
        </p:spPr>
        <p:txBody>
          <a:bodyPr wrap="square" lIns="0" tIns="0" rIns="0" bIns="0" rtlCol="0" anchor="ctr"/>
          <a:lstStyle/>
          <a:p>
            <a:pPr indent="0" marL="0">
              <a:buNone/>
            </a:pPr>
            <a:r>
              <a:rPr lang="en-US" sz="1500" b="1" dirty="0">
                <a:solidFill>
                  <a:srgbClr val="172622"/>
                </a:solidFill>
                <a:latin typeface="Cambria" pitchFamily="34" charset="0"/>
                <a:ea typeface="Cambria" pitchFamily="34" charset="-122"/>
                <a:cs typeface="Cambria" pitchFamily="34" charset="-120"/>
              </a:rPr>
              <a:t>Weather</a:t>
            </a:r>
            <a:endParaRPr lang="en-US" sz="1500" dirty="0"/>
          </a:p>
        </p:txBody>
      </p:sp>
      <p:sp>
        <p:nvSpPr>
          <p:cNvPr id="18" name="Text 13"/>
          <p:cNvSpPr/>
          <p:nvPr/>
        </p:nvSpPr>
        <p:spPr>
          <a:xfrm>
            <a:off x="8357616" y="2651760"/>
            <a:ext cx="2999232" cy="777240"/>
          </a:xfrm>
          <a:prstGeom prst="rect">
            <a:avLst/>
          </a:prstGeom>
          <a:noFill/>
          <a:ln/>
        </p:spPr>
        <p:txBody>
          <a:bodyPr wrap="square" lIns="0" tIns="0" rIns="0" bIns="0" rtlCol="0" anchor="ctr"/>
          <a:lstStyle/>
          <a:p>
            <a:pPr indent="0" marL="0">
              <a:buNone/>
            </a:pPr>
            <a:r>
              <a:rPr lang="en-US" sz="1200" dirty="0">
                <a:solidFill>
                  <a:srgbClr val="5C6E6A"/>
                </a:solidFill>
                <a:latin typeface="Calibri" pitchFamily="34" charset="0"/>
                <a:ea typeface="Calibri" pitchFamily="34" charset="-122"/>
                <a:cs typeface="Calibri" pitchFamily="34" charset="-120"/>
              </a:rPr>
              <a:t>Open-Meteo or OpenWeatherMap</a:t>
            </a:r>
            <a:endParaRPr lang="en-US" sz="1200" dirty="0"/>
          </a:p>
        </p:txBody>
      </p:sp>
      <p:sp>
        <p:nvSpPr>
          <p:cNvPr id="19" name="Shape 14"/>
          <p:cNvSpPr/>
          <p:nvPr/>
        </p:nvSpPr>
        <p:spPr>
          <a:xfrm>
            <a:off x="640080" y="3749040"/>
            <a:ext cx="3502152" cy="1828800"/>
          </a:xfrm>
          <a:prstGeom prst="roundRect">
            <a:avLst>
              <a:gd name="adj" fmla="val 4500"/>
            </a:avLst>
          </a:prstGeom>
          <a:solidFill>
            <a:srgbClr val="F6FAF9"/>
          </a:solidFill>
          <a:ln w="12700">
            <a:solidFill>
              <a:srgbClr val="D8E6E3"/>
            </a:solidFill>
            <a:prstDash val="solid"/>
          </a:ln>
        </p:spPr>
        <p:txBody>
          <a:bodyPr/>
          <a:p/>
        </p:txBody>
      </p:sp>
      <p:sp>
        <p:nvSpPr>
          <p:cNvPr id="20" name="Shape 15"/>
          <p:cNvSpPr/>
          <p:nvPr/>
        </p:nvSpPr>
        <p:spPr>
          <a:xfrm>
            <a:off x="896112" y="4023360"/>
            <a:ext cx="566928" cy="566928"/>
          </a:xfrm>
          <a:prstGeom prst="ellipse">
            <a:avLst/>
          </a:prstGeom>
          <a:solidFill>
            <a:srgbClr val="129490"/>
          </a:solidFill>
          <a:ln/>
        </p:spPr>
        <p:txBody>
          <a:bodyPr/>
          <a:p/>
        </p:txBody>
      </p:sp>
      <p:pic>
        <p:nvPicPr>
          <p:cNvPr id="21" name="Image 3" descr="/home/claude/icons/sms.png">    </p:cNvPr>
          <p:cNvPicPr>
            <a:picLocks noChangeAspect="1"/>
          </p:cNvPicPr>
          <p:nvPr/>
        </p:nvPicPr>
        <p:blipFill>
          <a:blip r:embed="rId4"/>
          <a:stretch>
            <a:fillRect/>
          </a:stretch>
        </p:blipFill>
        <p:spPr>
          <a:xfrm>
            <a:off x="1037844" y="4165092"/>
            <a:ext cx="283464" cy="283464"/>
          </a:xfrm>
          <a:prstGeom prst="rect">
            <a:avLst/>
          </a:prstGeom>
        </p:spPr>
      </p:pic>
      <p:sp>
        <p:nvSpPr>
          <p:cNvPr id="22" name="Text 16"/>
          <p:cNvSpPr/>
          <p:nvPr/>
        </p:nvSpPr>
        <p:spPr>
          <a:xfrm>
            <a:off x="1600200" y="4005072"/>
            <a:ext cx="2313432" cy="365760"/>
          </a:xfrm>
          <a:prstGeom prst="rect">
            <a:avLst/>
          </a:prstGeom>
          <a:noFill/>
          <a:ln/>
        </p:spPr>
        <p:txBody>
          <a:bodyPr wrap="square" lIns="0" tIns="0" rIns="0" bIns="0" rtlCol="0" anchor="ctr"/>
          <a:lstStyle/>
          <a:p>
            <a:pPr indent="0" marL="0">
              <a:buNone/>
            </a:pPr>
            <a:r>
              <a:rPr lang="en-US" sz="1500" b="1" dirty="0">
                <a:solidFill>
                  <a:srgbClr val="172622"/>
                </a:solidFill>
                <a:latin typeface="Cambria" pitchFamily="34" charset="0"/>
                <a:ea typeface="Cambria" pitchFamily="34" charset="-122"/>
                <a:cs typeface="Cambria" pitchFamily="34" charset="-120"/>
              </a:rPr>
              <a:t>Alerts</a:t>
            </a:r>
            <a:endParaRPr lang="en-US" sz="1500" dirty="0"/>
          </a:p>
        </p:txBody>
      </p:sp>
      <p:sp>
        <p:nvSpPr>
          <p:cNvPr id="23" name="Text 17"/>
          <p:cNvSpPr/>
          <p:nvPr/>
        </p:nvSpPr>
        <p:spPr>
          <a:xfrm>
            <a:off x="896112" y="4709160"/>
            <a:ext cx="2999232" cy="777240"/>
          </a:xfrm>
          <a:prstGeom prst="rect">
            <a:avLst/>
          </a:prstGeom>
          <a:noFill/>
          <a:ln/>
        </p:spPr>
        <p:txBody>
          <a:bodyPr wrap="square" lIns="0" tIns="0" rIns="0" bIns="0" rtlCol="0" anchor="ctr"/>
          <a:lstStyle/>
          <a:p>
            <a:pPr indent="0" marL="0">
              <a:buNone/>
            </a:pPr>
            <a:r>
              <a:rPr lang="en-US" sz="1200" dirty="0">
                <a:solidFill>
                  <a:srgbClr val="5C6E6A"/>
                </a:solidFill>
                <a:latin typeface="Calibri" pitchFamily="34" charset="0"/>
                <a:ea typeface="Calibri" pitchFamily="34" charset="-122"/>
                <a:cs typeface="Calibri" pitchFamily="34" charset="-120"/>
              </a:rPr>
              <a:t>Twilio (SMS layer)</a:t>
            </a:r>
            <a:endParaRPr lang="en-US" sz="1200" dirty="0"/>
          </a:p>
        </p:txBody>
      </p:sp>
      <p:sp>
        <p:nvSpPr>
          <p:cNvPr id="24" name="Shape 18"/>
          <p:cNvSpPr/>
          <p:nvPr/>
        </p:nvSpPr>
        <p:spPr>
          <a:xfrm>
            <a:off x="4370832" y="3749040"/>
            <a:ext cx="3502152" cy="1828800"/>
          </a:xfrm>
          <a:prstGeom prst="roundRect">
            <a:avLst>
              <a:gd name="adj" fmla="val 4500"/>
            </a:avLst>
          </a:prstGeom>
          <a:solidFill>
            <a:srgbClr val="F6FAF9"/>
          </a:solidFill>
          <a:ln w="12700">
            <a:solidFill>
              <a:srgbClr val="D8E6E3"/>
            </a:solidFill>
            <a:prstDash val="solid"/>
          </a:ln>
        </p:spPr>
        <p:txBody>
          <a:bodyPr/>
          <a:p/>
        </p:txBody>
      </p:sp>
      <p:sp>
        <p:nvSpPr>
          <p:cNvPr id="25" name="Shape 19"/>
          <p:cNvSpPr/>
          <p:nvPr/>
        </p:nvSpPr>
        <p:spPr>
          <a:xfrm>
            <a:off x="4626864" y="4023360"/>
            <a:ext cx="566928" cy="566928"/>
          </a:xfrm>
          <a:prstGeom prst="ellipse">
            <a:avLst/>
          </a:prstGeom>
          <a:solidFill>
            <a:srgbClr val="0B4F4A"/>
          </a:solidFill>
          <a:ln/>
        </p:spPr>
        <p:txBody>
          <a:bodyPr/>
          <a:p/>
        </p:txBody>
      </p:sp>
      <p:pic>
        <p:nvPicPr>
          <p:cNvPr id="26" name="Image 4" descr="/home/claude/icons/chart.png">    </p:cNvPr>
          <p:cNvPicPr>
            <a:picLocks noChangeAspect="1"/>
          </p:cNvPicPr>
          <p:nvPr/>
        </p:nvPicPr>
        <p:blipFill>
          <a:blip r:embed="rId5"/>
          <a:stretch>
            <a:fillRect/>
          </a:stretch>
        </p:blipFill>
        <p:spPr>
          <a:xfrm>
            <a:off x="4768596" y="4165092"/>
            <a:ext cx="283464" cy="283464"/>
          </a:xfrm>
          <a:prstGeom prst="rect">
            <a:avLst/>
          </a:prstGeom>
        </p:spPr>
      </p:pic>
      <p:sp>
        <p:nvSpPr>
          <p:cNvPr id="27" name="Text 20"/>
          <p:cNvSpPr/>
          <p:nvPr/>
        </p:nvSpPr>
        <p:spPr>
          <a:xfrm>
            <a:off x="5330952" y="4005072"/>
            <a:ext cx="2313432" cy="365760"/>
          </a:xfrm>
          <a:prstGeom prst="rect">
            <a:avLst/>
          </a:prstGeom>
          <a:noFill/>
          <a:ln/>
        </p:spPr>
        <p:txBody>
          <a:bodyPr wrap="square" lIns="0" tIns="0" rIns="0" bIns="0" rtlCol="0" anchor="ctr"/>
          <a:lstStyle/>
          <a:p>
            <a:pPr indent="0" marL="0">
              <a:buNone/>
            </a:pPr>
            <a:r>
              <a:rPr lang="en-US" sz="1500" b="1" dirty="0">
                <a:solidFill>
                  <a:srgbClr val="172622"/>
                </a:solidFill>
                <a:latin typeface="Cambria" pitchFamily="34" charset="0"/>
                <a:ea typeface="Cambria" pitchFamily="34" charset="-122"/>
                <a:cs typeface="Cambria" pitchFamily="34" charset="-120"/>
              </a:rPr>
              <a:t>Frontend</a:t>
            </a:r>
            <a:endParaRPr lang="en-US" sz="1500" dirty="0"/>
          </a:p>
        </p:txBody>
      </p:sp>
      <p:sp>
        <p:nvSpPr>
          <p:cNvPr id="28" name="Text 21"/>
          <p:cNvSpPr/>
          <p:nvPr/>
        </p:nvSpPr>
        <p:spPr>
          <a:xfrm>
            <a:off x="4626864" y="4709160"/>
            <a:ext cx="2999232" cy="777240"/>
          </a:xfrm>
          <a:prstGeom prst="rect">
            <a:avLst/>
          </a:prstGeom>
          <a:noFill/>
          <a:ln/>
        </p:spPr>
        <p:txBody>
          <a:bodyPr wrap="square" lIns="0" tIns="0" rIns="0" bIns="0" rtlCol="0" anchor="ctr"/>
          <a:lstStyle/>
          <a:p>
            <a:pPr indent="0" marL="0">
              <a:buNone/>
            </a:pPr>
            <a:r>
              <a:rPr lang="en-US" sz="1200" dirty="0">
                <a:solidFill>
                  <a:srgbClr val="5C6E6A"/>
                </a:solidFill>
                <a:latin typeface="Calibri" pitchFamily="34" charset="0"/>
                <a:ea typeface="Calibri" pitchFamily="34" charset="-122"/>
                <a:cs typeface="Calibri" pitchFamily="34" charset="-120"/>
              </a:rPr>
              <a:t>React + Recharts / D3</a:t>
            </a:r>
            <a:endParaRPr lang="en-US" sz="1200" dirty="0"/>
          </a:p>
        </p:txBody>
      </p:sp>
      <p:sp>
        <p:nvSpPr>
          <p:cNvPr id="29" name="Shape 22"/>
          <p:cNvSpPr/>
          <p:nvPr/>
        </p:nvSpPr>
        <p:spPr>
          <a:xfrm>
            <a:off x="8101584" y="3749040"/>
            <a:ext cx="3502152" cy="1828800"/>
          </a:xfrm>
          <a:prstGeom prst="roundRect">
            <a:avLst>
              <a:gd name="adj" fmla="val 4500"/>
            </a:avLst>
          </a:prstGeom>
          <a:solidFill>
            <a:srgbClr val="F6FAF9"/>
          </a:solidFill>
          <a:ln w="12700">
            <a:solidFill>
              <a:srgbClr val="D8E6E3"/>
            </a:solidFill>
            <a:prstDash val="solid"/>
          </a:ln>
        </p:spPr>
        <p:txBody>
          <a:bodyPr/>
          <a:p/>
        </p:txBody>
      </p:sp>
      <p:sp>
        <p:nvSpPr>
          <p:cNvPr id="30" name="Shape 23"/>
          <p:cNvSpPr/>
          <p:nvPr/>
        </p:nvSpPr>
        <p:spPr>
          <a:xfrm>
            <a:off x="8357616" y="4023360"/>
            <a:ext cx="566928" cy="566928"/>
          </a:xfrm>
          <a:prstGeom prst="ellipse">
            <a:avLst/>
          </a:prstGeom>
          <a:solidFill>
            <a:srgbClr val="129490"/>
          </a:solidFill>
          <a:ln/>
        </p:spPr>
        <p:txBody>
          <a:bodyPr/>
          <a:p/>
        </p:txBody>
      </p:sp>
      <p:pic>
        <p:nvPicPr>
          <p:cNvPr id="31" name="Image 5" descr="/home/claude/icons/battery.png">    </p:cNvPr>
          <p:cNvPicPr>
            <a:picLocks noChangeAspect="1"/>
          </p:cNvPicPr>
          <p:nvPr/>
        </p:nvPicPr>
        <p:blipFill>
          <a:blip r:embed="rId6"/>
          <a:stretch>
            <a:fillRect/>
          </a:stretch>
        </p:blipFill>
        <p:spPr>
          <a:xfrm>
            <a:off x="8499348" y="4165092"/>
            <a:ext cx="283464" cy="283464"/>
          </a:xfrm>
          <a:prstGeom prst="rect">
            <a:avLst/>
          </a:prstGeom>
        </p:spPr>
      </p:pic>
      <p:sp>
        <p:nvSpPr>
          <p:cNvPr id="32" name="Text 24"/>
          <p:cNvSpPr/>
          <p:nvPr/>
        </p:nvSpPr>
        <p:spPr>
          <a:xfrm>
            <a:off x="9061704" y="4005072"/>
            <a:ext cx="2313432" cy="365760"/>
          </a:xfrm>
          <a:prstGeom prst="rect">
            <a:avLst/>
          </a:prstGeom>
          <a:noFill/>
          <a:ln/>
        </p:spPr>
        <p:txBody>
          <a:bodyPr wrap="square" lIns="0" tIns="0" rIns="0" bIns="0" rtlCol="0" anchor="ctr"/>
          <a:lstStyle/>
          <a:p>
            <a:pPr indent="0" marL="0">
              <a:buNone/>
            </a:pPr>
            <a:r>
              <a:rPr lang="en-US" sz="1500" b="1" dirty="0">
                <a:solidFill>
                  <a:srgbClr val="172622"/>
                </a:solidFill>
                <a:latin typeface="Cambria" pitchFamily="34" charset="0"/>
                <a:ea typeface="Cambria" pitchFamily="34" charset="-122"/>
                <a:cs typeface="Cambria" pitchFamily="34" charset="-120"/>
              </a:rPr>
              <a:t>Backend</a:t>
            </a:r>
            <a:endParaRPr lang="en-US" sz="1500" dirty="0"/>
          </a:p>
        </p:txBody>
      </p:sp>
      <p:sp>
        <p:nvSpPr>
          <p:cNvPr id="33" name="Text 25"/>
          <p:cNvSpPr/>
          <p:nvPr/>
        </p:nvSpPr>
        <p:spPr>
          <a:xfrm>
            <a:off x="8357616" y="4709160"/>
            <a:ext cx="2999232" cy="777240"/>
          </a:xfrm>
          <a:prstGeom prst="rect">
            <a:avLst/>
          </a:prstGeom>
          <a:noFill/>
          <a:ln/>
        </p:spPr>
        <p:txBody>
          <a:bodyPr wrap="square" lIns="0" tIns="0" rIns="0" bIns="0" rtlCol="0" anchor="ctr"/>
          <a:lstStyle/>
          <a:p>
            <a:pPr indent="0" marL="0">
              <a:buNone/>
            </a:pPr>
            <a:r>
              <a:rPr lang="en-US" sz="1200" dirty="0">
                <a:solidFill>
                  <a:srgbClr val="5C6E6A"/>
                </a:solidFill>
                <a:latin typeface="Calibri" pitchFamily="34" charset="0"/>
                <a:ea typeface="Calibri" pitchFamily="34" charset="-122"/>
                <a:cs typeface="Calibri" pitchFamily="34" charset="-120"/>
              </a:rPr>
              <a:t>FastAPI or Flask + Postgres / SQLite</a:t>
            </a:r>
            <a:endParaRPr lang="en-US" sz="1200" dirty="0"/>
          </a:p>
        </p:txBody>
      </p:sp>
      <p:sp>
        <p:nvSpPr>
          <p:cNvPr id="34" name="Text 2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C6E6A"/>
                </a:solidFill>
                <a:latin typeface="Calibri" pitchFamily="34" charset="0"/>
                <a:ea typeface="Calibri" pitchFamily="34" charset="-122"/>
                <a:cs typeface="Calibri" pitchFamily="34" charset="-120"/>
              </a:rPr>
              <a:t>TATVA  ·  UrjaSetu  ·  HackOut'26</a:t>
            </a:r>
            <a:endParaRPr lang="en-US" sz="900" dirty="0"/>
          </a:p>
        </p:txBody>
      </p:sp>
      <p:sp>
        <p:nvSpPr>
          <p:cNvPr id="35" name="Text 27"/>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5C6E6A"/>
                </a:solidFill>
                <a:latin typeface="Calibri" pitchFamily="34" charset="0"/>
                <a:ea typeface="Calibri" pitchFamily="34" charset="-122"/>
                <a:cs typeface="Calibri" pitchFamily="34" charset="-120"/>
              </a:rPr>
              <a:t>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302D"/>
        </a:solidFill>
      </p:bgPr>
    </p:bg>
    <p:spTree>
      <p:nvGrpSpPr>
        <p:cNvPr id="1" name=""/>
        <p:cNvGrpSpPr/>
        <p:nvPr/>
      </p:nvGrpSpPr>
      <p:grpSpPr>
        <a:xfrm>
          <a:off x="0" y="0"/>
          <a:ext cx="0" cy="0"/>
          <a:chOff x="0" y="0"/>
          <a:chExt cx="0" cy="0"/>
        </a:xfrm>
      </p:grpSpPr>
      <p:sp>
        <p:nvSpPr>
          <p:cNvPr id="2" name="Shape 0"/>
          <p:cNvSpPr/>
          <p:nvPr/>
        </p:nvSpPr>
        <p:spPr>
          <a:xfrm>
            <a:off x="9326880" y="-2194560"/>
            <a:ext cx="5486400" cy="5486400"/>
          </a:xfrm>
          <a:prstGeom prst="ellipse">
            <a:avLst/>
          </a:prstGeom>
          <a:solidFill>
            <a:srgbClr val="0B4F4A">
              <a:alpha val="60000"/>
            </a:srgbClr>
          </a:solidFill>
          <a:ln/>
        </p:spPr>
        <p:txBody>
          <a:bodyPr/>
          <a:p/>
        </p:txBody>
      </p:sp>
      <p:sp>
        <p:nvSpPr>
          <p:cNvPr id="3" name="Text 1"/>
          <p:cNvSpPr/>
          <p:nvPr/>
        </p:nvSpPr>
        <p:spPr>
          <a:xfrm>
            <a:off x="640080" y="384048"/>
            <a:ext cx="9144000" cy="320040"/>
          </a:xfrm>
          <a:prstGeom prst="rect">
            <a:avLst/>
          </a:prstGeom>
          <a:noFill/>
          <a:ln/>
        </p:spPr>
        <p:txBody>
          <a:bodyPr wrap="square" lIns="0" tIns="0" rIns="0" bIns="0" rtlCol="0" anchor="ctr"/>
          <a:lstStyle/>
          <a:p>
            <a:pPr indent="0" marL="0">
              <a:buNone/>
            </a:pPr>
            <a:r>
              <a:rPr b="1"/>
              <a:t>15 · EXPECTED IMPACT &amp; CONCLUSION</a:t>
            </a:r>
            <a:endParaRPr lang="en-US" sz="1300" dirty="0"/>
          </a:p>
        </p:txBody>
      </p:sp>
      <p:sp>
        <p:nvSpPr>
          <p:cNvPr id="4" name="Text 2"/>
          <p:cNvSpPr/>
          <p:nvPr/>
        </p:nvSpPr>
        <p:spPr>
          <a:xfrm>
            <a:off x="640080" y="713232"/>
            <a:ext cx="10881360" cy="914400"/>
          </a:xfrm>
          <a:prstGeom prst="rect">
            <a:avLst/>
          </a:prstGeom>
          <a:noFill/>
          <a:ln/>
        </p:spPr>
        <p:txBody>
          <a:bodyPr wrap="square" lIns="0" tIns="0" rIns="0" bIns="0" rtlCol="0" anchor="ctr"/>
          <a:lstStyle/>
          <a:p>
            <a:pPr indent="0" marL="0">
              <a:buNone/>
            </a:pPr>
            <a:r>
              <a:rPr b="1"/>
              <a:t>Expected Outcomes: Reduced Costs, Improved Battery Life, and Operator Confidence</a:t>
            </a:r>
            <a:endParaRPr lang="en-US" sz="2800" dirty="0"/>
          </a:p>
        </p:txBody>
      </p:sp>
      <p:sp>
        <p:nvSpPr>
          <p:cNvPr id="5" name="Shape 3"/>
          <p:cNvSpPr/>
          <p:nvPr/>
        </p:nvSpPr>
        <p:spPr>
          <a:xfrm>
            <a:off x="2048256" y="1965960"/>
            <a:ext cx="685800" cy="685800"/>
          </a:xfrm>
          <a:prstGeom prst="ellipse">
            <a:avLst/>
          </a:prstGeom>
          <a:solidFill>
            <a:srgbClr val="E8A33D"/>
          </a:solidFill>
          <a:ln/>
        </p:spPr>
        <p:txBody>
          <a:bodyPr/>
          <a:p/>
        </p:txBody>
      </p:sp>
      <p:pic>
        <p:nvPicPr>
          <p:cNvPr id="6" name="Image 0" descr="/home/claude/icons/leaf.png">    </p:cNvPr>
          <p:cNvPicPr>
            <a:picLocks noChangeAspect="1"/>
          </p:cNvPicPr>
          <p:nvPr/>
        </p:nvPicPr>
        <p:blipFill>
          <a:blip r:embed="rId1"/>
          <a:stretch>
            <a:fillRect/>
          </a:stretch>
        </p:blipFill>
        <p:spPr>
          <a:xfrm>
            <a:off x="2219706" y="2137410"/>
            <a:ext cx="342900" cy="342900"/>
          </a:xfrm>
          <a:prstGeom prst="rect">
            <a:avLst/>
          </a:prstGeom>
        </p:spPr>
      </p:pic>
      <p:sp>
        <p:nvSpPr>
          <p:cNvPr id="7" name="Text 4"/>
          <p:cNvSpPr/>
          <p:nvPr/>
        </p:nvSpPr>
        <p:spPr>
          <a:xfrm>
            <a:off x="640080" y="2834640"/>
            <a:ext cx="3502152"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Lower emissions</a:t>
            </a:r>
            <a:endParaRPr lang="en-US" sz="1600" dirty="0"/>
          </a:p>
        </p:txBody>
      </p:sp>
      <p:sp>
        <p:nvSpPr>
          <p:cNvPr id="8" name="Text 5"/>
          <p:cNvSpPr/>
          <p:nvPr/>
        </p:nvSpPr>
        <p:spPr>
          <a:xfrm>
            <a:off x="868680" y="3291840"/>
            <a:ext cx="3044952" cy="777240"/>
          </a:xfrm>
          <a:prstGeom prst="rect">
            <a:avLst/>
          </a:prstGeom>
          <a:noFill/>
          <a:ln/>
        </p:spPr>
        <p:txBody>
          <a:bodyPr wrap="square" lIns="0" tIns="0" rIns="0" bIns="0" rtlCol="0" anchor="ctr"/>
          <a:lstStyle/>
          <a:p>
            <a:pPr algn="ctr" indent="0" marL="0">
              <a:buNone/>
            </a:pPr>
            <a:r>
              <a:rPr lang="en-US" sz="1250" dirty="0">
                <a:solidFill>
                  <a:srgbClr val="BFE0DA"/>
                </a:solidFill>
                <a:latin typeface="Calibri" pitchFamily="34" charset="0"/>
                <a:ea typeface="Calibri" pitchFamily="34" charset="-122"/>
                <a:cs typeface="Calibri" pitchFamily="34" charset="-120"/>
              </a:rPr>
              <a:t>and proven, not promised — via replay mode</a:t>
            </a:r>
            <a:endParaRPr lang="en-US" sz="1250" dirty="0"/>
          </a:p>
        </p:txBody>
      </p:sp>
      <p:sp>
        <p:nvSpPr>
          <p:cNvPr id="9" name="Shape 6"/>
          <p:cNvSpPr/>
          <p:nvPr/>
        </p:nvSpPr>
        <p:spPr>
          <a:xfrm>
            <a:off x="5779008" y="1965960"/>
            <a:ext cx="685800" cy="685800"/>
          </a:xfrm>
          <a:prstGeom prst="ellipse">
            <a:avLst/>
          </a:prstGeom>
          <a:solidFill>
            <a:srgbClr val="E8A33D"/>
          </a:solidFill>
          <a:ln/>
        </p:spPr>
        <p:txBody>
          <a:bodyPr/>
          <a:p/>
        </p:txBody>
      </p:sp>
      <p:pic>
        <p:nvPicPr>
          <p:cNvPr id="10" name="Image 1" descr="/home/claude/icons/dollar.png">    </p:cNvPr>
          <p:cNvPicPr>
            <a:picLocks noChangeAspect="1"/>
          </p:cNvPicPr>
          <p:nvPr/>
        </p:nvPicPr>
        <p:blipFill>
          <a:blip r:embed="rId2"/>
          <a:stretch>
            <a:fillRect/>
          </a:stretch>
        </p:blipFill>
        <p:spPr>
          <a:xfrm>
            <a:off x="5950458" y="2137410"/>
            <a:ext cx="342900" cy="342900"/>
          </a:xfrm>
          <a:prstGeom prst="rect">
            <a:avLst/>
          </a:prstGeom>
        </p:spPr>
      </p:pic>
      <p:sp>
        <p:nvSpPr>
          <p:cNvPr id="11" name="Text 7"/>
          <p:cNvSpPr/>
          <p:nvPr/>
        </p:nvSpPr>
        <p:spPr>
          <a:xfrm>
            <a:off x="4370832" y="2834640"/>
            <a:ext cx="3502152"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Lower fuel bills</a:t>
            </a:r>
            <a:endParaRPr lang="en-US" sz="1600" dirty="0"/>
          </a:p>
        </p:txBody>
      </p:sp>
      <p:sp>
        <p:nvSpPr>
          <p:cNvPr id="12" name="Text 8"/>
          <p:cNvSpPr/>
          <p:nvPr/>
        </p:nvSpPr>
        <p:spPr>
          <a:xfrm>
            <a:off x="4599432" y="3291840"/>
            <a:ext cx="3044952" cy="777240"/>
          </a:xfrm>
          <a:prstGeom prst="rect">
            <a:avLst/>
          </a:prstGeom>
          <a:noFill/>
          <a:ln/>
        </p:spPr>
        <p:txBody>
          <a:bodyPr wrap="square" lIns="0" tIns="0" rIns="0" bIns="0" rtlCol="0" anchor="ctr"/>
          <a:lstStyle/>
          <a:p>
            <a:pPr algn="ctr" indent="0" marL="0">
              <a:buNone/>
            </a:pPr>
            <a:r>
              <a:rPr lang="en-US" sz="1250" dirty="0">
                <a:solidFill>
                  <a:srgbClr val="BFE0DA"/>
                </a:solidFill>
                <a:latin typeface="Calibri" pitchFamily="34" charset="0"/>
                <a:ea typeface="Calibri" pitchFamily="34" charset="-122"/>
                <a:cs typeface="Calibri" pitchFamily="34" charset="-120"/>
              </a:rPr>
              <a:t>diesel used only when it's actually needed</a:t>
            </a:r>
            <a:endParaRPr lang="en-US" sz="1250" dirty="0"/>
          </a:p>
        </p:txBody>
      </p:sp>
      <p:sp>
        <p:nvSpPr>
          <p:cNvPr id="13" name="Shape 9"/>
          <p:cNvSpPr/>
          <p:nvPr/>
        </p:nvSpPr>
        <p:spPr>
          <a:xfrm>
            <a:off x="9509760" y="1965960"/>
            <a:ext cx="685800" cy="685800"/>
          </a:xfrm>
          <a:prstGeom prst="ellipse">
            <a:avLst/>
          </a:prstGeom>
          <a:solidFill>
            <a:srgbClr val="E8A33D"/>
          </a:solidFill>
          <a:ln/>
        </p:spPr>
        <p:txBody>
          <a:bodyPr/>
          <a:p/>
        </p:txBody>
      </p:sp>
      <p:pic>
        <p:nvPicPr>
          <p:cNvPr id="14" name="Image 2" descr="/home/claude/icons/battery.png">    </p:cNvPr>
          <p:cNvPicPr>
            <a:picLocks noChangeAspect="1"/>
          </p:cNvPicPr>
          <p:nvPr/>
        </p:nvPicPr>
        <p:blipFill>
          <a:blip r:embed="rId3"/>
          <a:stretch>
            <a:fillRect/>
          </a:stretch>
        </p:blipFill>
        <p:spPr>
          <a:xfrm>
            <a:off x="9681210" y="2137410"/>
            <a:ext cx="342900" cy="342900"/>
          </a:xfrm>
          <a:prstGeom prst="rect">
            <a:avLst/>
          </a:prstGeom>
        </p:spPr>
      </p:pic>
      <p:sp>
        <p:nvSpPr>
          <p:cNvPr id="15" name="Text 10"/>
          <p:cNvSpPr/>
          <p:nvPr/>
        </p:nvSpPr>
        <p:spPr>
          <a:xfrm>
            <a:off x="8101584" y="2834640"/>
            <a:ext cx="3502152"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Batteries that last</a:t>
            </a:r>
            <a:endParaRPr lang="en-US" sz="1600" dirty="0"/>
          </a:p>
        </p:txBody>
      </p:sp>
      <p:sp>
        <p:nvSpPr>
          <p:cNvPr id="16" name="Text 11"/>
          <p:cNvSpPr/>
          <p:nvPr/>
        </p:nvSpPr>
        <p:spPr>
          <a:xfrm>
            <a:off x="8330184" y="3291840"/>
            <a:ext cx="3044952" cy="777240"/>
          </a:xfrm>
          <a:prstGeom prst="rect">
            <a:avLst/>
          </a:prstGeom>
          <a:noFill/>
          <a:ln/>
        </p:spPr>
        <p:txBody>
          <a:bodyPr wrap="square" lIns="0" tIns="0" rIns="0" bIns="0" rtlCol="0" anchor="ctr"/>
          <a:lstStyle/>
          <a:p>
            <a:pPr algn="ctr" indent="0" marL="0">
              <a:buNone/>
            </a:pPr>
            <a:r>
              <a:rPr lang="en-US" sz="1250" dirty="0">
                <a:solidFill>
                  <a:srgbClr val="BFE0DA"/>
                </a:solidFill>
                <a:latin typeface="Calibri" pitchFamily="34" charset="0"/>
                <a:ea typeface="Calibri" pitchFamily="34" charset="-122"/>
                <a:cs typeface="Calibri" pitchFamily="34" charset="-120"/>
              </a:rPr>
              <a:t>the single most expensive asset on site</a:t>
            </a:r>
            <a:endParaRPr lang="en-US" sz="1250" dirty="0"/>
          </a:p>
        </p:txBody>
      </p:sp>
      <p:sp>
        <p:nvSpPr>
          <p:cNvPr id="17" name="Shape 12"/>
          <p:cNvSpPr/>
          <p:nvPr/>
        </p:nvSpPr>
        <p:spPr>
          <a:xfrm>
            <a:off x="640080" y="4343400"/>
            <a:ext cx="10881360" cy="1417320"/>
          </a:xfrm>
          <a:prstGeom prst="roundRect">
            <a:avLst>
              <a:gd name="adj" fmla="val 6452"/>
            </a:avLst>
          </a:prstGeom>
          <a:solidFill>
            <a:srgbClr val="0B4F4A"/>
          </a:solidFill>
          <a:ln/>
        </p:spPr>
        <p:txBody>
          <a:bodyPr/>
          <a:p/>
        </p:txBody>
      </p:sp>
      <p:sp>
        <p:nvSpPr>
          <p:cNvPr id="18" name="Text 13"/>
          <p:cNvSpPr/>
          <p:nvPr/>
        </p:nvSpPr>
        <p:spPr>
          <a:xfrm>
            <a:off x="960120" y="4480560"/>
            <a:ext cx="10241280" cy="1143000"/>
          </a:xfrm>
          <a:prstGeom prst="rect">
            <a:avLst/>
          </a:prstGeom>
          <a:noFill/>
          <a:ln/>
        </p:spPr>
        <p:txBody>
          <a:bodyPr wrap="square" lIns="0" tIns="0" rIns="0" bIns="0" rtlCol="0" anchor="ctr"/>
          <a:lstStyle/>
          <a:p>
            <a:pPr indent="0" marL="0">
              <a:buNone/>
            </a:pPr>
            <a:r>
              <a:rPr lang="en-US" sz="1350" i="1" dirty="0">
                <a:solidFill>
                  <a:srgbClr val="E8F4F1"/>
                </a:solidFill>
                <a:latin typeface="Calibri" pitchFamily="34" charset="0"/>
                <a:ea typeface="Calibri" pitchFamily="34" charset="-122"/>
                <a:cs typeface="Calibri" pitchFamily="34" charset="-120"/>
              </a:rPr>
              <a:t>LP dispatch, weather forecasting, an SMS alert — people have built all of these before. What's ours is putting them together around the three things that quietly kill these projects: trust, connectivity, and whether the battery's still alive in year two.</a:t>
            </a:r>
            <a:endParaRPr lang="en-US" sz="1350" dirty="0"/>
          </a:p>
        </p:txBody>
      </p:sp>
      <p:sp>
        <p:nvSpPr>
          <p:cNvPr id="19" name="Text 14"/>
          <p:cNvSpPr/>
          <p:nvPr/>
        </p:nvSpPr>
        <p:spPr>
          <a:xfrm>
            <a:off x="640080" y="5989320"/>
            <a:ext cx="7315200" cy="365760"/>
          </a:xfrm>
          <a:prstGeom prst="rect">
            <a:avLst/>
          </a:prstGeom>
          <a:noFill/>
          <a:ln/>
        </p:spPr>
        <p:txBody>
          <a:bodyPr wrap="square" lIns="0" tIns="0" rIns="0" bIns="0" rtlCol="0" anchor="ctr"/>
          <a:lstStyle/>
          <a:p>
            <a:pPr indent="0" marL="0">
              <a:buNone/>
            </a:pPr>
            <a:r>
              <a:rPr lang="en-US" sz="1300" i="1" dirty="0">
                <a:solidFill>
                  <a:srgbClr val="9FC7C1"/>
                </a:solidFill>
                <a:latin typeface="Calibri" pitchFamily="34" charset="0"/>
                <a:ea typeface="Calibri" pitchFamily="34" charset="-122"/>
                <a:cs typeface="Calibri" pitchFamily="34" charset="-120"/>
              </a:rPr>
              <a:t>That's Tatva. Thanks — happy to take questions.</a:t>
            </a:r>
            <a:endParaRPr lang="en-US" sz="1300" dirty="0"/>
          </a:p>
        </p:txBody>
      </p:sp>
      <p:sp>
        <p:nvSpPr>
          <p:cNvPr id="20" name="Text 15"/>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9FC7C1"/>
                </a:solidFill>
                <a:latin typeface="Calibri" pitchFamily="34" charset="0"/>
                <a:ea typeface="Calibri" pitchFamily="34" charset="-122"/>
                <a:cs typeface="Calibri" pitchFamily="34" charset="-120"/>
              </a:rPr>
              <a:t>TATVA  ·  UrjaSetu  ·  HackOut'26</a:t>
            </a:r>
            <a:endParaRPr lang="en-US" sz="900" dirty="0"/>
          </a:p>
        </p:txBody>
      </p:sp>
      <p:sp>
        <p:nvSpPr>
          <p:cNvPr id="21" name="Text 16"/>
          <p:cNvSpPr/>
          <p:nvPr/>
        </p:nvSpPr>
        <p:spPr>
          <a:xfrm>
            <a:off x="10817352" y="6473952"/>
            <a:ext cx="914400" cy="274320"/>
          </a:xfrm>
          <a:prstGeom prst="rect">
            <a:avLst/>
          </a:prstGeom>
          <a:noFill/>
          <a:ln/>
        </p:spPr>
        <p:txBody>
          <a:bodyPr wrap="square" lIns="0" tIns="0" rIns="0" bIns="0" rtlCol="0" anchor="ctr"/>
          <a:lstStyle/>
          <a:p>
            <a:pPr algn="r" indent="0" marL="0">
              <a:buNone/>
            </a:pPr>
            <a:r>
              <a:rPr lang="en-US" sz="900" dirty="0">
                <a:solidFill>
                  <a:srgbClr val="9FC7C1"/>
                </a:solidFill>
                <a:latin typeface="Calibri" pitchFamily="34" charset="0"/>
                <a:ea typeface="Calibri" pitchFamily="34" charset="-122"/>
                <a:cs typeface="Calibri" pitchFamily="34" charset="-120"/>
              </a:rPr>
              <a:t>16 / 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2026-09-12T17:34:14Z</dcterms:created>
  <dcterms:modified xsi:type="dcterms:W3CDTF">2026-09-12T17:34:14Z</dcterms:modified>
</cp:coreProperties>
</file>